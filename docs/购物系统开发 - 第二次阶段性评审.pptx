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9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6.xml" ContentType="application/vnd.openxmlformats-officedocument.presentationml.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notesSlides/notesSlide22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2.xml" ContentType="application/vnd.openxmlformats-officedocument.presentationml.slide+xml"/>
  <Override PartName="/ppt/theme/theme4.xml" ContentType="application/vnd.openxmlformats-officedocument.them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notesSlides/notesSlide18.xml" ContentType="application/vnd.openxmlformats-officedocument.presentationml.notes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viewProps.xml" ContentType="application/vnd.openxmlformats-officedocument.presentationml.viewProps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Layouts/slideLayout13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theme/theme3.xml" ContentType="application/vnd.openxmlformats-officedocument.theme+xml"/>
  <Override PartName="/ppt/notesSlides/notesSlide3.xml" ContentType="application/vnd.openxmlformats-officedocument.presentationml.notesSlide+xml"/>
  <Override PartName="/ppt/slideLayouts/slideLayout1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  <p:sldMasterId id="2147483660" r:id="rId1"/>
    <p:sldMasterId id="2147483662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p="http://schemas.openxmlformats.org/presentationml/2006/main"/>
</file>

<file path=ppt/viewProps.xml><?xml version="1.0" encoding="utf-8"?>
<p:viewPr xmlns:a="http://schemas.openxmlformats.org/drawingml/2006/main" xmlns:p="http://schemas.openxmlformats.org/presentationml/2006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6.xml" /><Relationship Id="rId6" Type="http://schemas.openxmlformats.org/officeDocument/2006/relationships/slide" Target="slides/slide4.xml" /><Relationship Id="rId30" Type="http://schemas.openxmlformats.org/officeDocument/2006/relationships/slide" Target="slides/slide28.xml" /><Relationship Id="rId4" Type="http://schemas.openxmlformats.org/officeDocument/2006/relationships/slide" Target="slides/slide2.xml" /><Relationship Id="rId3" Type="http://schemas.openxmlformats.org/officeDocument/2006/relationships/slide" Target="slides/slide1.xml" /><Relationship Id="rId29" Type="http://schemas.openxmlformats.org/officeDocument/2006/relationships/slide" Target="slides/slide27.xml" /><Relationship Id="rId28" Type="http://schemas.openxmlformats.org/officeDocument/2006/relationships/slide" Target="slides/slide26.xml" /><Relationship Id="rId7" Type="http://schemas.openxmlformats.org/officeDocument/2006/relationships/slide" Target="slides/slide5.xml" /><Relationship Id="rId31" Type="http://schemas.openxmlformats.org/officeDocument/2006/relationships/notesMaster" Target="notesMasters/notesMaster1.xml" /><Relationship Id="rId26" Type="http://schemas.openxmlformats.org/officeDocument/2006/relationships/slide" Target="slides/slide24.xml" /><Relationship Id="rId25" Type="http://schemas.openxmlformats.org/officeDocument/2006/relationships/slide" Target="slides/slide23.xml" /><Relationship Id="rId24" Type="http://schemas.openxmlformats.org/officeDocument/2006/relationships/slide" Target="slides/slide22.xml" /><Relationship Id="rId5" Type="http://schemas.openxmlformats.org/officeDocument/2006/relationships/slide" Target="slides/slide3.xml" /><Relationship Id="rId23" Type="http://schemas.openxmlformats.org/officeDocument/2006/relationships/slide" Target="slides/slide21.xml" /><Relationship Id="rId32" Type="http://schemas.openxmlformats.org/officeDocument/2006/relationships/presProps" Target="presProps.xml" /><Relationship Id="rId13" Type="http://schemas.openxmlformats.org/officeDocument/2006/relationships/slide" Target="slides/slide11.xml" /><Relationship Id="rId12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9.xml" /><Relationship Id="rId10" Type="http://schemas.openxmlformats.org/officeDocument/2006/relationships/slide" Target="slides/slide8.xml" /><Relationship Id="rId1" Type="http://schemas.openxmlformats.org/officeDocument/2006/relationships/slideMaster" Target="slideMasters/slideMaster2.xml" /><Relationship Id="rId14" Type="http://schemas.openxmlformats.org/officeDocument/2006/relationships/slide" Target="slides/slide12.xml" /><Relationship Id="rId18" Type="http://schemas.openxmlformats.org/officeDocument/2006/relationships/slide" Target="slides/slide16.xml" /><Relationship Id="rId16" Type="http://schemas.openxmlformats.org/officeDocument/2006/relationships/slide" Target="slides/slide14.xml" /><Relationship Id="rId2" Type="http://schemas.openxmlformats.org/officeDocument/2006/relationships/slideMaster" Target="slideMasters/slideMaster3.xml" /><Relationship Id="rId20" Type="http://schemas.openxmlformats.org/officeDocument/2006/relationships/slide" Target="slides/slide18.xml" /><Relationship Id="rId17" Type="http://schemas.openxmlformats.org/officeDocument/2006/relationships/slide" Target="slides/slide15.xml" /><Relationship Id="rId21" Type="http://schemas.openxmlformats.org/officeDocument/2006/relationships/slide" Target="slides/slide19.xml" /><Relationship Id="rId33" Type="http://schemas.openxmlformats.org/officeDocument/2006/relationships/viewProps" Target="viewProps.xml" /><Relationship Id="rId27" Type="http://schemas.openxmlformats.org/officeDocument/2006/relationships/slide" Target="slides/slide25.xml" /><Relationship Id="rId15" Type="http://schemas.openxmlformats.org/officeDocument/2006/relationships/slide" Target="slides/slide13.xml" /><Relationship Id="rId19" Type="http://schemas.openxmlformats.org/officeDocument/2006/relationships/slide" Target="slides/slide17.xml" /><Relationship Id="rId9" Type="http://schemas.openxmlformats.org/officeDocument/2006/relationships/slide" Target="slides/slide7.xml" /><Relationship Id="rId22" Type="http://schemas.openxmlformats.org/officeDocument/2006/relationships/slide" Target="slides/slide2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8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8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8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9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9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9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9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9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9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9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0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0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0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1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1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1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1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1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2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2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2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我负责测试和部署。主要四块：测试用例设计、自动化测试脚本和 Postman 集合、Dockerfile 和 CI、还有部署 README。</a:t>
            </a:r>
            <a:endParaRPr/>
          </a:p>
        </p:txBody>
      </p:sp>
      <p:sp>
        <p:nvSpPr>
          <p:cNvPr id="12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2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2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我负责测试和部署。主要四块：测试用例设计、自动化测试脚本和 Postman 集合、Dockerfile 和 CI、还有部署 README。</a:t>
            </a:r>
            <a:endParaRPr/>
          </a:p>
        </p:txBody>
      </p:sp>
      <p:sp>
        <p:nvSpPr>
          <p:cNvPr id="1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3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3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3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4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4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4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4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4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4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5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5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5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5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5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5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5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5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6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6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6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6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6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6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6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7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7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7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7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7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7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7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8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8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8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8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8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9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  <a:endParaRPr/>
          </a:p>
        </p:txBody>
      </p:sp>
      <p:sp>
        <p:nvSpPr>
          <p:cNvPr id="19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/>
          </a:p>
        </p:txBody>
      </p:sp>
      <p:sp>
        <p:nvSpPr>
          <p:cNvPr id="1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Master" Target="../slideMasters/slideMaster3.xml" /></Relationships>
</file>

<file path=ppt/slideLayouts/_rels/slideLayout1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1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1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/>
            <a:endParaRPr/>
          </a:p>
        </p:txBody>
      </p:sp>
      <p:sp>
        <p:nvSpPr>
          <p:cNvPr id="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OBJEC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1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_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1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/>
            <a:endParaRPr/>
          </a:p>
        </p:txBody>
      </p:sp>
      <p:sp>
        <p:nvSpPr>
          <p:cNvPr id="22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3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4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_OBJECTS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7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28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29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0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1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TWO_OBJECTS_WITH_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4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/>
            <a:endParaRPr/>
          </a:p>
        </p:txBody>
      </p:sp>
      <p:sp>
        <p:nvSpPr>
          <p:cNvPr id="35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36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/>
            <a:endParaRPr/>
          </a:p>
        </p:txBody>
      </p:sp>
      <p:sp>
        <p:nvSpPr>
          <p:cNvPr id="37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38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9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0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_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3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4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5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8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9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OBJECT_WITH_CAPTION_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2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/>
            <a:endParaRPr/>
          </a:p>
        </p:txBody>
      </p:sp>
      <p:sp>
        <p:nvSpPr>
          <p:cNvPr id="53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/>
            <a:endParaRPr/>
          </a:p>
        </p:txBody>
      </p:sp>
      <p:sp>
        <p:nvSpPr>
          <p:cNvPr id="54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5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6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_WITH_CAPTION_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9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0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/>
            <a:endParaRPr/>
          </a:p>
        </p:txBody>
      </p:sp>
      <p:sp>
        <p:nvSpPr>
          <p:cNvPr id="61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2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3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VERTICAL_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6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67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8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9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_TITLE_AND_VERTICAL_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5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16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7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8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标题和内容">
    <p:bg>
      <p:bgPr>
        <a:blipFill dpi="0" rotWithShape="1">
          <a:blip r:embed="rId1"/>
          <a:srcRect/>
          <a:stretch>
            <a:fillRect l="0" t="0" r="0" b="0"/>
          </a:stretch>
        </a:blip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type="title">
  <p:cSld name="1_标题和内容">
    <p:bg>
      <p:bgPr>
        <a:gradFill rotWithShape="1">
          <a:gsLst>
            <a:gs pos="0">
              <a:srgbClr val="D7D9E1">
                <a:alpha val="100000"/>
              </a:srgbClr>
            </a:gs>
            <a:gs pos="25999">
              <a:srgbClr val="EBECF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showMasterSp="0" type="title">
  <p:cSld name="标题幻灯片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type="title">
  <p:cSld name="仅标题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AutoShape 2"/>
          <p:cNvSpPr/>
          <p:nvPr>
            <p:ph type="body" sz="quarter" idx="1" hasCustomPrompt="1"/>
          </p:nvPr>
        </p:nvSpPr>
        <p:spPr>
          <a:xfrm rot="0" flipH="0" flipV="0">
            <a:off x="628650" y="274638"/>
            <a:ext cx="7886700" cy="993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Relationship Id="rId0" Type="http://schemas.openxmlformats.org/officeDocument/2006/relationships/slideLayout" Target="../slideLayouts/slideLayout12.xml" /></Relationships>
</file>

<file path=ppt/slideMasters/_rels/slideMaster3.xml.rels><?xml version="1.0" encoding="UTF-8" standalone="yes"?><Relationships xmlns="http://schemas.openxmlformats.org/package/2006/relationships"><Relationship Id="rId5" Type="http://schemas.openxmlformats.org/officeDocument/2006/relationships/image" Target="media/image22.jpg" /><Relationship Id="rId2" Type="http://schemas.openxmlformats.org/officeDocument/2006/relationships/slideLayout" Target="../slideLayouts/slideLayout15.xml" /><Relationship Id="rId0" Type="http://schemas.openxmlformats.org/officeDocument/2006/relationships/slideLayout" Target="../slideLayouts/slideLayout13.xml" /><Relationship Id="rId4" Type="http://schemas.openxmlformats.org/officeDocument/2006/relationships/theme" Target="../theme/theme4.xml" /><Relationship Id="rId3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pPr/>
            <a:endParaRPr/>
          </a:p>
        </p:txBody>
      </p:sp>
      <p:sp>
        <p:nvSpPr>
          <p:cNvPr id="3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/>
            <a:endParaRPr/>
          </a:p>
        </p:txBody>
      </p:sp>
      <p:sp>
        <p:nvSpPr>
          <p:cNvPr id="4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/>
            <a:endParaRPr/>
          </a:p>
        </p:txBody>
      </p:sp>
      <p:sp>
        <p:nvSpPr>
          <p:cNvPr id="5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/>
            <a:endParaRPr/>
          </a:p>
        </p:txBody>
      </p:sp>
      <p:sp>
        <p:nvSpPr>
          <p:cNvPr id="6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/>
          <p:cNvPicPr>
            <a:picLocks noChangeAspect="1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rot="0" flipH="0" flipV="0">
            <a:off x="3309" y="-620"/>
            <a:ext cx="9138969" cy="514581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0"/>
    <p:sldLayoutId id="2147483664" r:id="rId1"/>
    <p:sldLayoutId id="2147483665" r:id="rId2"/>
    <p:sldLayoutId id="2147483666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1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1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1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1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12.xml" /></Relationships>
</file>

<file path=ppt/slides/_rels/slide6.xml.rels><?xml version="1.0" encoding="UTF-8" standalone="yes"?><Relationships xmlns="http://schemas.openxmlformats.org/package/2006/relationships"><Relationship Id="rId6" Type="http://schemas.openxmlformats.org/officeDocument/2006/relationships/image" Target="media/image36.png" /><Relationship Id="rId1" Type="http://schemas.openxmlformats.org/officeDocument/2006/relationships/notesSlide" Target="../notesSlides/notesSlide27.xml" /><Relationship Id="rId2" Type="http://schemas.openxmlformats.org/officeDocument/2006/relationships/image" Target="media/image32.png" /><Relationship Id="rId4" Type="http://schemas.openxmlformats.org/officeDocument/2006/relationships/image" Target="media/image34.png" /><Relationship Id="rId0" Type="http://schemas.openxmlformats.org/officeDocument/2006/relationships/slideLayout" Target="../slideLayouts/slideLayout12.xml" /><Relationship Id="rId5" Type="http://schemas.openxmlformats.org/officeDocument/2006/relationships/image" Target="media/image35.png" /><Relationship Id="rId3" Type="http://schemas.openxmlformats.org/officeDocument/2006/relationships/image" Target="media/image33.png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38.png" /><Relationship Id="rId2" Type="http://schemas.openxmlformats.org/officeDocument/2006/relationships/image" Target="media/image37.png" /><Relationship Id="rId0" Type="http://schemas.openxmlformats.org/officeDocument/2006/relationships/slideLayout" Target="../slideLayouts/slideLayout12.xml" /><Relationship Id="rId4" Type="http://schemas.openxmlformats.org/officeDocument/2006/relationships/hyperlink" Target="https://github.com/H15058218452-rgb/Software-Engineering-Experimental-Group/wiki/%E6%8C%91%E6%88%98%E5%8D%87%E7%BA%A7A%E9%9C%80%E6%B1%82%E6%BE%84%E6%B8%85%E9%97%AE%E7%AD%94%E8%AE%B0%E5%BD%95" TargetMode="External"/><Relationship Id="rId1" Type="http://schemas.openxmlformats.org/officeDocument/2006/relationships/notesSlide" Target="../notesSlides/notesSlide28.xml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2.png" /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2.xml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5.png" /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3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7.png" /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4.xml" /></Relationships>
</file>

<file path=ppt/slides/_rels/slide12.xml.rels><?xml version="1.0" encoding="UTF-8" standalone="yes"?><Relationships xmlns="http://schemas.openxmlformats.org/package/2006/relationships"><Relationship Id="rId4" Type="http://schemas.openxmlformats.org/officeDocument/2006/relationships/image" Target="media/image10.png" /><Relationship Id="rId3" Type="http://schemas.openxmlformats.org/officeDocument/2006/relationships/image" Target="media/image9.png" /><Relationship Id="rId2" Type="http://schemas.openxmlformats.org/officeDocument/2006/relationships/image" Target="media/image8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5.xml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12.png" /><Relationship Id="rId2" Type="http://schemas.openxmlformats.org/officeDocument/2006/relationships/image" Target="media/image11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6.xml" /></Relationships>
</file>

<file path=ppt/slides/_rels/slide14.xml.rels><?xml version="1.0" encoding="UTF-8" standalone="yes"?><Relationships xmlns="http://schemas.openxmlformats.org/package/2006/relationships"><Relationship Id="rId4" Type="http://schemas.openxmlformats.org/officeDocument/2006/relationships/image" Target="media/image15.png" /><Relationship Id="rId3" Type="http://schemas.openxmlformats.org/officeDocument/2006/relationships/image" Target="media/image14.png" /><Relationship Id="rId0" Type="http://schemas.openxmlformats.org/officeDocument/2006/relationships/slideLayout" Target="../slideLayouts/slideLayout12.xml" /><Relationship Id="rId2" Type="http://schemas.openxmlformats.org/officeDocument/2006/relationships/image" Target="media/image13.png" /><Relationship Id="rId1" Type="http://schemas.openxmlformats.org/officeDocument/2006/relationships/notesSlide" Target="../notesSlides/notesSlide7.xml" 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media/image17.png" /><Relationship Id="rId2" Type="http://schemas.openxmlformats.org/officeDocument/2006/relationships/image" Target="media/image16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8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18.png" /><Relationship Id="rId3" Type="http://schemas.openxmlformats.org/officeDocument/2006/relationships/image" Target="media/image19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9.xml" /></Relationships>
</file>

<file path=ppt/slides/_rels/slide17.xml.rels><?xml version="1.0" encoding="UTF-8" standalone="yes"?><Relationships xmlns="http://schemas.openxmlformats.org/package/2006/relationships"><Relationship Id="rId3" Type="http://schemas.openxmlformats.org/officeDocument/2006/relationships/image" Target="media/image21.png" /><Relationship Id="rId2" Type="http://schemas.openxmlformats.org/officeDocument/2006/relationships/image" Target="media/image20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10.xml" /></Relationships>
</file>

<file path=ppt/slides/_rels/slide18.xml.rels><?xml version="1.0" encoding="UTF-8" standalone="yes"?><Relationships xmlns="http://schemas.openxmlformats.org/package/2006/relationships"><Relationship Id="rId3" Type="http://schemas.openxmlformats.org/officeDocument/2006/relationships/image" Target="media/image25.png" /><Relationship Id="rId2" Type="http://schemas.openxmlformats.org/officeDocument/2006/relationships/image" Target="media/image24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11.xml" /></Relationships>
</file>

<file path=ppt/slides/_rels/slide19.xml.rels><?xml version="1.0" encoding="UTF-8" standalone="yes"?><Relationships xmlns="http://schemas.openxmlformats.org/package/2006/relationships"><Relationship Id="rId3" Type="http://schemas.openxmlformats.org/officeDocument/2006/relationships/image" Target="media/image27.png" /><Relationship Id="rId2" Type="http://schemas.openxmlformats.org/officeDocument/2006/relationships/image" Target="media/image26.pn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1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1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1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12.xml" /></Relationships>
</file>

<file path=ppt/slides/_rels/slide26.xml.rels><?xml version="1.0" encoding="UTF-8" standalone="yes"?><Relationships xmlns="http://schemas.openxmlformats.org/package/2006/relationships"><Relationship Id="rId7" Type="http://schemas.openxmlformats.org/officeDocument/2006/relationships/image" Target="media/image31.png" /><Relationship Id="rId6" Type="http://schemas.openxmlformats.org/officeDocument/2006/relationships/image" Target="media/image30.png" /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12.xml" /><Relationship Id="rId5" Type="http://schemas.openxmlformats.org/officeDocument/2006/relationships/image" Target="media/image29.png" /><Relationship Id="rId2" Type="http://schemas.openxmlformats.org/officeDocument/2006/relationships/video" Target="media/media1.mp4" /><Relationship Id="rId3" Type="http://schemas.microsoft.com/office/2007/relationships/media" Target="media/media1.mp4" /><Relationship Id="rId4" Type="http://schemas.openxmlformats.org/officeDocument/2006/relationships/image" Target="media/image28.jpg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1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AutoShape 2"/>
          <p:cNvSpPr/>
          <p:nvPr/>
        </p:nvSpPr>
        <p:spPr>
          <a:xfrm rot="0" flipH="0" flipV="0">
            <a:off x="0" y="0"/>
            <a:ext cx="3429000" cy="5143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" name="AutoShape 3"/>
          <p:cNvSpPr txBox="1"/>
          <p:nvPr/>
        </p:nvSpPr>
        <p:spPr>
          <a:xfrm rot="0" flipH="0" flipV="0">
            <a:off x="381000" y="571500"/>
            <a:ext cx="635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endParaRPr lang="en-US" sz="1100"/>
          </a:p>
        </p:txBody>
      </p:sp>
      <p:sp>
        <p:nvSpPr>
          <p:cNvPr id="284" name="AutoShape 4"/>
          <p:cNvSpPr txBox="1"/>
          <p:nvPr/>
        </p:nvSpPr>
        <p:spPr>
          <a:xfrm rot="0" flipH="0" flipV="0">
            <a:off x="381000" y="952500"/>
            <a:ext cx="635000" cy="317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endParaRPr lang="en-US" sz="1100"/>
          </a:p>
        </p:txBody>
      </p:sp>
      <p:sp>
        <p:nvSpPr>
          <p:cNvPr id="285" name="AutoShape 5"/>
          <p:cNvSpPr txBox="1"/>
          <p:nvPr/>
        </p:nvSpPr>
        <p:spPr>
          <a:xfrm rot="0" flipH="0" flipV="0">
            <a:off x="381000" y="1270000"/>
            <a:ext cx="635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endParaRPr lang="en-US" sz="1100"/>
          </a:p>
        </p:txBody>
      </p:sp>
      <p:sp>
        <p:nvSpPr>
          <p:cNvPr id="286" name="AutoShape 6"/>
          <p:cNvSpPr txBox="1"/>
          <p:nvPr/>
        </p:nvSpPr>
        <p:spPr>
          <a:xfrm rot="0" flipH="0" flipV="0">
            <a:off x="3810000" y="1524000"/>
            <a:ext cx="4826000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购物系统开发</a:t>
            </a:r>
            <a:endParaRPr lang="en-US" sz="1100"/>
          </a:p>
        </p:txBody>
      </p:sp>
      <p:sp>
        <p:nvSpPr>
          <p:cNvPr id="287" name="AutoShape 7"/>
          <p:cNvSpPr txBox="1"/>
          <p:nvPr/>
        </p:nvSpPr>
        <p:spPr>
          <a:xfrm rot="0" flipH="0" flipV="0">
            <a:off x="3810000" y="2222500"/>
            <a:ext cx="4826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项目分工汇报</a:t>
            </a:r>
            <a:endParaRPr lang="en-US" sz="1100"/>
          </a:p>
        </p:txBody>
      </p:sp>
      <p:cxnSp>
        <p:nvCxnSpPr>
          <p:cNvPr id="288" name="Connector 8"/>
          <p:cNvCxnSpPr/>
          <p:nvPr/>
        </p:nvCxnSpPr>
        <p:spPr>
          <a:xfrm rot="-38195" flipH="0" flipV="0">
            <a:off x="3810035" y="2787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3436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89" name="AutoShape 9"/>
          <p:cNvSpPr txBox="1"/>
          <p:nvPr/>
        </p:nvSpPr>
        <p:spPr>
          <a:xfrm rot="0" flipH="0" flipV="0">
            <a:off x="3810000" y="3111500"/>
            <a:ext cx="4826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组员：</a:t>
            </a:r>
            <a:r>
              <a:rPr lang="zh-CN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r>
              <a:rPr lang="en-US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r>
              <a:rPr lang="en-US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r>
              <a:rPr lang="en-US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zh-CN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r>
              <a:rPr lang="en-US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胡芷源</a:t>
            </a:r>
            <a:r>
              <a:rPr lang="zh-CN" sz="1200" b="0" i="0" u="none" strike="noStrike">
                <a:solidFill>
                  <a:srgbClr val="646464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（组长）</a:t>
            </a:r>
            <a:endParaRPr/>
          </a:p>
        </p:txBody>
      </p:sp>
      <p:sp>
        <p:nvSpPr>
          <p:cNvPr id="290" name="AutoShape 10"/>
          <p:cNvSpPr txBox="1"/>
          <p:nvPr/>
        </p:nvSpPr>
        <p:spPr>
          <a:xfrm rot="0" flipH="0" flipV="0">
            <a:off x="3810000" y="3492500"/>
            <a:ext cx="4826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汇报内容：各模块任务分工与开发进度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AutoShape 2"/>
          <p:cNvSpPr/>
          <p:nvPr/>
        </p:nvSpPr>
        <p:spPr>
          <a:xfrm rot="0" flipH="0" flipV="0">
            <a:off x="0" y="0"/>
            <a:ext cx="76200" cy="5143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" name="AutoShape 3"/>
          <p:cNvSpPr txBox="1"/>
          <p:nvPr/>
        </p:nvSpPr>
        <p:spPr>
          <a:xfrm rot="0" flipH="0" flipV="0">
            <a:off x="571500" y="508000"/>
            <a:ext cx="3810000" cy="50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298" name="AutoShape 4"/>
          <p:cNvSpPr txBox="1"/>
          <p:nvPr/>
        </p:nvSpPr>
        <p:spPr>
          <a:xfrm rot="0" flipH="0" flipV="0">
            <a:off x="571500" y="1016000"/>
            <a:ext cx="3810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cxnSp>
        <p:nvCxnSpPr>
          <p:cNvPr id="299" name="Connector 5"/>
          <p:cNvCxnSpPr/>
          <p:nvPr/>
        </p:nvCxnSpPr>
        <p:spPr>
          <a:xfrm rot="-5456" flipH="0" flipV="0">
            <a:off x="571505" y="1454150"/>
            <a:ext cx="800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AutoShape 6"/>
          <p:cNvSpPr/>
          <p:nvPr/>
        </p:nvSpPr>
        <p:spPr>
          <a:xfrm rot="0" flipH="0" flipV="0">
            <a:off x="571500" y="1841500"/>
            <a:ext cx="381000" cy="381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" name="AutoShape 7"/>
          <p:cNvSpPr txBox="1"/>
          <p:nvPr/>
        </p:nvSpPr>
        <p:spPr>
          <a:xfrm rot="0" flipH="0" flipV="0">
            <a:off x="571500" y="1841500"/>
            <a:ext cx="381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02" name="AutoShape 8"/>
          <p:cNvSpPr txBox="1"/>
          <p:nvPr/>
        </p:nvSpPr>
        <p:spPr>
          <a:xfrm rot="0" flipH="0" flipV="0">
            <a:off x="1143000" y="1841500"/>
            <a:ext cx="2540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项目整体架构</a:t>
            </a:r>
            <a:endParaRPr lang="en-US" sz="1100"/>
          </a:p>
        </p:txBody>
      </p:sp>
      <p:sp>
        <p:nvSpPr>
          <p:cNvPr id="303" name="AutoShape 9"/>
          <p:cNvSpPr txBox="1"/>
          <p:nvPr/>
        </p:nvSpPr>
        <p:spPr>
          <a:xfrm rot="0" flipH="0" flipV="0">
            <a:off x="4572000" y="1841500"/>
            <a:ext cx="3937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前后端分工 · 数据库 · 测试部署</a:t>
            </a:r>
            <a:endParaRPr lang="en-US" sz="1100"/>
          </a:p>
        </p:txBody>
      </p:sp>
      <p:sp>
        <p:nvSpPr>
          <p:cNvPr id="304" name="AutoShape 10"/>
          <p:cNvSpPr/>
          <p:nvPr/>
        </p:nvSpPr>
        <p:spPr>
          <a:xfrm rot="0" flipH="0" flipV="0">
            <a:off x="571500" y="2540000"/>
            <a:ext cx="381000" cy="381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5" name="AutoShape 11"/>
          <p:cNvSpPr txBox="1"/>
          <p:nvPr/>
        </p:nvSpPr>
        <p:spPr>
          <a:xfrm rot="0" flipH="0" flipV="0">
            <a:off x="571500" y="2540000"/>
            <a:ext cx="381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06" name="AutoShape 12"/>
          <p:cNvSpPr txBox="1"/>
          <p:nvPr/>
        </p:nvSpPr>
        <p:spPr>
          <a:xfrm rot="0" flipH="0" flipV="0">
            <a:off x="1143000" y="2540000"/>
            <a:ext cx="2540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各成员分工汇报</a:t>
            </a:r>
            <a:endParaRPr lang="en-US" sz="1100"/>
          </a:p>
        </p:txBody>
      </p:sp>
      <p:sp>
        <p:nvSpPr>
          <p:cNvPr id="307" name="AutoShape 13"/>
          <p:cNvSpPr txBox="1"/>
          <p:nvPr/>
        </p:nvSpPr>
        <p:spPr>
          <a:xfrm rot="0" flipH="0" flipV="0">
            <a:off x="4572000" y="2540000"/>
            <a:ext cx="3937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后端商品模块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买家端 · 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 · 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· 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胡芷源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组长</a:t>
            </a:r>
            <a:r>
              <a:rPr lang="en-US" sz="11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+测试部署</a:t>
            </a:r>
            <a:endParaRPr/>
          </a:p>
        </p:txBody>
      </p:sp>
      <p:sp>
        <p:nvSpPr>
          <p:cNvPr id="308" name="AutoShape 14"/>
          <p:cNvSpPr/>
          <p:nvPr/>
        </p:nvSpPr>
        <p:spPr>
          <a:xfrm rot="0" flipH="0" flipV="0">
            <a:off x="571500" y="3238500"/>
            <a:ext cx="381000" cy="381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9" name="AutoShape 15"/>
          <p:cNvSpPr txBox="1"/>
          <p:nvPr/>
        </p:nvSpPr>
        <p:spPr>
          <a:xfrm rot="0" flipH="0" flipV="0">
            <a:off x="571500" y="3238500"/>
            <a:ext cx="381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10" name="AutoShape 16"/>
          <p:cNvSpPr txBox="1"/>
          <p:nvPr/>
        </p:nvSpPr>
        <p:spPr>
          <a:xfrm rot="0" flipH="0" flipV="0">
            <a:off x="1143000" y="3238500"/>
            <a:ext cx="2540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协作与接口联调</a:t>
            </a:r>
            <a:endParaRPr lang="en-US" sz="1100"/>
          </a:p>
        </p:txBody>
      </p:sp>
      <p:sp>
        <p:nvSpPr>
          <p:cNvPr id="311" name="AutoShape 17"/>
          <p:cNvSpPr txBox="1"/>
          <p:nvPr/>
        </p:nvSpPr>
        <p:spPr>
          <a:xfrm rot="0" flipH="0" flipV="0">
            <a:off x="4572000" y="3238500"/>
            <a:ext cx="3937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前后端接口约定 · 联调进度</a:t>
            </a:r>
            <a:endParaRPr lang="en-US" sz="1100"/>
          </a:p>
        </p:txBody>
      </p:sp>
      <p:sp>
        <p:nvSpPr>
          <p:cNvPr id="312" name="AutoShape 18"/>
          <p:cNvSpPr/>
          <p:nvPr/>
        </p:nvSpPr>
        <p:spPr>
          <a:xfrm rot="0" flipH="0" flipV="0">
            <a:off x="571500" y="3937000"/>
            <a:ext cx="381000" cy="381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3" name="AutoShape 19"/>
          <p:cNvSpPr txBox="1"/>
          <p:nvPr/>
        </p:nvSpPr>
        <p:spPr>
          <a:xfrm rot="0" flipH="0" flipV="0">
            <a:off x="571500" y="3937000"/>
            <a:ext cx="381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14" name="AutoShape 20"/>
          <p:cNvSpPr txBox="1"/>
          <p:nvPr/>
        </p:nvSpPr>
        <p:spPr>
          <a:xfrm rot="0" flipH="0" flipV="0">
            <a:off x="1143000" y="3937000"/>
            <a:ext cx="2540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2828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下一步计划</a:t>
            </a:r>
            <a:endParaRPr lang="en-US" sz="1100"/>
          </a:p>
        </p:txBody>
      </p:sp>
      <p:sp>
        <p:nvSpPr>
          <p:cNvPr id="315" name="AutoShape 21"/>
          <p:cNvSpPr txBox="1"/>
          <p:nvPr/>
        </p:nvSpPr>
        <p:spPr>
          <a:xfrm rot="0" flipH="0" flipV="0">
            <a:off x="4572000" y="3937000"/>
            <a:ext cx="3937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剩余开发任务 · 上线时间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8" name="AutoShape 3"/>
          <p:cNvSpPr txBox="1"/>
          <p:nvPr/>
        </p:nvSpPr>
        <p:spPr>
          <a:xfrm rot="0" flipH="0" flipV="0">
            <a:off x="5715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项目整体架构</a:t>
            </a:r>
            <a:endParaRPr lang="en-US" sz="1100"/>
          </a:p>
        </p:txBody>
      </p:sp>
      <p:sp>
        <p:nvSpPr>
          <p:cNvPr id="319" name="AutoShape 5"/>
          <p:cNvSpPr/>
          <p:nvPr/>
        </p:nvSpPr>
        <p:spPr>
          <a:xfrm rot="0" flipH="0" flipV="0">
            <a:off x="571500" y="952500"/>
            <a:ext cx="8001000" cy="952500"/>
          </a:xfrm>
          <a:prstGeom prst="roundRect">
            <a:avLst>
              <a:gd name="adj" fmla="val 8000"/>
            </a:avLst>
          </a:prstGeom>
          <a:solidFill>
            <a:srgbClr val="E6F0FA">
              <a:alpha val="100000"/>
            </a:srgbClr>
          </a:solidFill>
          <a:ln w="12700" cap="flat" cmpd="sng">
            <a:solidFill>
              <a:srgbClr val="13436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" name="AutoShape 6"/>
          <p:cNvSpPr txBox="1"/>
          <p:nvPr/>
        </p:nvSpPr>
        <p:spPr>
          <a:xfrm rot="0" flipH="0" flipV="0">
            <a:off x="762000" y="1041400"/>
            <a:ext cx="1905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前端层</a:t>
            </a:r>
            <a:endParaRPr lang="en-US" sz="1100"/>
          </a:p>
        </p:txBody>
      </p:sp>
      <p:sp>
        <p:nvSpPr>
          <p:cNvPr id="321" name="AutoShape 7"/>
          <p:cNvSpPr/>
          <p:nvPr/>
        </p:nvSpPr>
        <p:spPr>
          <a:xfrm rot="0" flipH="0" flipV="0">
            <a:off x="762000" y="1371600"/>
            <a:ext cx="2413000" cy="381000"/>
          </a:xfrm>
          <a:prstGeom prst="roundRect">
            <a:avLst>
              <a:gd name="adj" fmla="val 13333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" name="AutoShape 8"/>
          <p:cNvSpPr txBox="1"/>
          <p:nvPr/>
        </p:nvSpPr>
        <p:spPr>
          <a:xfrm rot="0" flipH="0" flipV="0">
            <a:off x="762000" y="1371600"/>
            <a:ext cx="2413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r>
              <a:rPr lang="en-US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买家端页面</a:t>
            </a:r>
            <a:endParaRPr/>
          </a:p>
        </p:txBody>
      </p:sp>
      <p:sp>
        <p:nvSpPr>
          <p:cNvPr id="323" name="AutoShape 9"/>
          <p:cNvSpPr/>
          <p:nvPr/>
        </p:nvSpPr>
        <p:spPr>
          <a:xfrm rot="0" flipH="0" flipV="0">
            <a:off x="3683000" y="1371600"/>
            <a:ext cx="2413000" cy="381000"/>
          </a:xfrm>
          <a:prstGeom prst="roundRect">
            <a:avLst>
              <a:gd name="adj" fmla="val 13333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4" name="AutoShape 10"/>
          <p:cNvSpPr txBox="1"/>
          <p:nvPr/>
        </p:nvSpPr>
        <p:spPr>
          <a:xfrm rot="0" flipH="0" flipV="0">
            <a:off x="3683000" y="1371600"/>
            <a:ext cx="2413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r>
              <a:rPr lang="en-US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</a:t>
            </a:r>
            <a:endParaRPr/>
          </a:p>
        </p:txBody>
      </p:sp>
      <p:cxnSp>
        <p:nvCxnSpPr>
          <p:cNvPr id="325" name="Connector 11"/>
          <p:cNvCxnSpPr/>
          <p:nvPr/>
        </p:nvCxnSpPr>
        <p:spPr>
          <a:xfrm rot="5250626" flipH="0" flipV="0">
            <a:off x="4425950" y="2108338"/>
            <a:ext cx="292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646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6" name="AutoShape 12"/>
          <p:cNvSpPr/>
          <p:nvPr/>
        </p:nvSpPr>
        <p:spPr>
          <a:xfrm rot="0" flipH="0" flipV="0">
            <a:off x="571500" y="2324100"/>
            <a:ext cx="8001000" cy="952500"/>
          </a:xfrm>
          <a:prstGeom prst="roundRect">
            <a:avLst>
              <a:gd name="adj" fmla="val 800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13436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" name="AutoShape 13"/>
          <p:cNvSpPr txBox="1"/>
          <p:nvPr/>
        </p:nvSpPr>
        <p:spPr>
          <a:xfrm rot="0" flipH="0" flipV="0">
            <a:off x="762000" y="2413000"/>
            <a:ext cx="1905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</a:t>
            </a:r>
            <a:endParaRPr lang="en-US" sz="1100"/>
          </a:p>
        </p:txBody>
      </p:sp>
      <p:sp>
        <p:nvSpPr>
          <p:cNvPr id="328" name="AutoShape 14"/>
          <p:cNvSpPr/>
          <p:nvPr/>
        </p:nvSpPr>
        <p:spPr>
          <a:xfrm rot="0" flipH="0" flipV="0">
            <a:off x="762000" y="2743200"/>
            <a:ext cx="2222500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9" name="AutoShape 15"/>
          <p:cNvSpPr txBox="1"/>
          <p:nvPr/>
        </p:nvSpPr>
        <p:spPr>
          <a:xfrm rot="0" flipH="0" flipV="0">
            <a:off x="762000" y="2743200"/>
            <a:ext cx="22225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r>
              <a:rPr lang="en-US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商品模块</a:t>
            </a:r>
            <a:endParaRPr/>
          </a:p>
        </p:txBody>
      </p:sp>
      <p:sp>
        <p:nvSpPr>
          <p:cNvPr id="330" name="AutoShape 16"/>
          <p:cNvSpPr/>
          <p:nvPr/>
        </p:nvSpPr>
        <p:spPr>
          <a:xfrm rot="0" flipH="0" flipV="0">
            <a:off x="3302000" y="2743200"/>
            <a:ext cx="2222500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1" name="AutoShape 17"/>
          <p:cNvSpPr txBox="1"/>
          <p:nvPr/>
        </p:nvSpPr>
        <p:spPr>
          <a:xfrm rot="0" flipH="0" flipV="0">
            <a:off x="3302000" y="2743200"/>
            <a:ext cx="22225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r>
              <a:rPr lang="en-US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意向/卖家/图片</a:t>
            </a:r>
            <a:endParaRPr/>
          </a:p>
        </p:txBody>
      </p:sp>
      <p:sp>
        <p:nvSpPr>
          <p:cNvPr id="332" name="AutoShape 18"/>
          <p:cNvSpPr/>
          <p:nvPr/>
        </p:nvSpPr>
        <p:spPr>
          <a:xfrm rot="0" flipH="0" flipV="0">
            <a:off x="5842000" y="2743200"/>
            <a:ext cx="2222500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" name="AutoShape 19"/>
          <p:cNvSpPr txBox="1"/>
          <p:nvPr/>
        </p:nvSpPr>
        <p:spPr>
          <a:xfrm rot="0" flipH="0" flipV="0">
            <a:off x="5842000" y="2743200"/>
            <a:ext cx="22225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胡芷源</a:t>
            </a:r>
            <a:r>
              <a:rPr lang="en-US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测试部署</a:t>
            </a:r>
            <a:endParaRPr/>
          </a:p>
        </p:txBody>
      </p:sp>
      <p:cxnSp>
        <p:nvCxnSpPr>
          <p:cNvPr id="334" name="Connector 20"/>
          <p:cNvCxnSpPr/>
          <p:nvPr/>
        </p:nvCxnSpPr>
        <p:spPr>
          <a:xfrm rot="5250626" flipH="0" flipV="0">
            <a:off x="4425950" y="3479938"/>
            <a:ext cx="292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646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35" name="AutoShape 21"/>
          <p:cNvSpPr/>
          <p:nvPr/>
        </p:nvSpPr>
        <p:spPr>
          <a:xfrm rot="0" flipH="0" flipV="0">
            <a:off x="571500" y="3695700"/>
            <a:ext cx="8001000" cy="825500"/>
          </a:xfrm>
          <a:prstGeom prst="roundRect">
            <a:avLst>
              <a:gd name="adj" fmla="val 923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6" name="AutoShape 22"/>
          <p:cNvSpPr txBox="1"/>
          <p:nvPr/>
        </p:nvSpPr>
        <p:spPr>
          <a:xfrm rot="0" flipH="0" flipV="0">
            <a:off x="762000" y="3784600"/>
            <a:ext cx="1905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数据库层</a:t>
            </a:r>
            <a:endParaRPr lang="en-US" sz="1100"/>
          </a:p>
        </p:txBody>
      </p:sp>
      <p:sp>
        <p:nvSpPr>
          <p:cNvPr id="337" name="AutoShape 23"/>
          <p:cNvSpPr txBox="1"/>
          <p:nvPr/>
        </p:nvSpPr>
        <p:spPr>
          <a:xfrm rot="0" flipH="0" flipV="0">
            <a:off x="762000" y="4089400"/>
            <a:ext cx="762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商品表（status 字段） · 意向表 · 卖家表 （</a:t>
            </a: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r>
              <a:rPr lang="en-US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负责 SQL 与 API 联调）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3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" name="AutoShape 3"/>
          <p:cNvSpPr txBox="1"/>
          <p:nvPr/>
        </p:nvSpPr>
        <p:spPr>
          <a:xfrm rot="0" flipH="0" flipV="0">
            <a:off x="5715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项目整体架构</a:t>
            </a:r>
            <a:endParaRPr lang="en-US" sz="1100"/>
          </a:p>
        </p:txBody>
      </p:sp>
      <p:sp>
        <p:nvSpPr>
          <p:cNvPr id="341" name="AutoShape 5"/>
          <p:cNvSpPr/>
          <p:nvPr/>
        </p:nvSpPr>
        <p:spPr>
          <a:xfrm rot="0" flipH="0" flipV="0">
            <a:off x="571500" y="952500"/>
            <a:ext cx="8001000" cy="3782228"/>
          </a:xfrm>
          <a:prstGeom prst="roundRect">
            <a:avLst>
              <a:gd name="adj" fmla="val 8000"/>
            </a:avLst>
          </a:prstGeom>
          <a:solidFill>
            <a:srgbClr val="E6F0FA">
              <a:alpha val="100000"/>
            </a:srgbClr>
          </a:solidFill>
          <a:ln w="12700" cap="flat" cmpd="sng">
            <a:solidFill>
              <a:srgbClr val="13436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" name="AutoShape 18"/>
          <p:cNvSpPr/>
          <p:nvPr/>
        </p:nvSpPr>
        <p:spPr>
          <a:xfrm rot="0" flipH="0" flipV="0">
            <a:off x="942593" y="1620312"/>
            <a:ext cx="1110356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" name="AutoShape 6"/>
          <p:cNvSpPr txBox="1"/>
          <p:nvPr/>
        </p:nvSpPr>
        <p:spPr>
          <a:xfrm rot="0" flipH="0" flipV="0">
            <a:off x="942593" y="1127661"/>
            <a:ext cx="2220713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核心逻辑：商品状态机</a:t>
            </a:r>
            <a:endParaRPr/>
          </a:p>
        </p:txBody>
      </p:sp>
      <p:sp>
        <p:nvSpPr>
          <p:cNvPr id="344" name="AutoShape 15"/>
          <p:cNvSpPr txBox="1"/>
          <p:nvPr/>
        </p:nvSpPr>
        <p:spPr>
          <a:xfrm rot="0" flipH="0" flipV="0">
            <a:off x="994562" y="1603643"/>
            <a:ext cx="1006418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痛点</a:t>
            </a:r>
            <a:endParaRPr/>
          </a:p>
        </p:txBody>
      </p:sp>
      <p:sp>
        <p:nvSpPr>
          <p:cNvPr id="345" name="AutoShape 18"/>
          <p:cNvSpPr/>
          <p:nvPr/>
        </p:nvSpPr>
        <p:spPr>
          <a:xfrm rot="0" flipH="0" flipV="0">
            <a:off x="942593" y="2505075"/>
            <a:ext cx="1110356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6" name="AutoShape 18"/>
          <p:cNvSpPr/>
          <p:nvPr/>
        </p:nvSpPr>
        <p:spPr>
          <a:xfrm rot="0" flipH="0" flipV="0">
            <a:off x="942593" y="3439845"/>
            <a:ext cx="1110356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7" name="AutoShape 15"/>
          <p:cNvSpPr txBox="1"/>
          <p:nvPr/>
        </p:nvSpPr>
        <p:spPr>
          <a:xfrm rot="0" flipH="0" flipV="0">
            <a:off x="994562" y="2521744"/>
            <a:ext cx="1006418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/>
          </a:p>
        </p:txBody>
      </p:sp>
      <p:sp>
        <p:nvSpPr>
          <p:cNvPr id="348" name="AutoShape 15"/>
          <p:cNvSpPr txBox="1"/>
          <p:nvPr/>
        </p:nvSpPr>
        <p:spPr>
          <a:xfrm rot="0" flipH="0" flipV="0">
            <a:off x="994562" y="3439845"/>
            <a:ext cx="1006418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流程</a:t>
            </a:r>
            <a:endParaRPr/>
          </a:p>
        </p:txBody>
      </p:sp>
      <p:sp>
        <p:nvSpPr>
          <p:cNvPr id="349" name="AutoShape 23"/>
          <p:cNvSpPr txBox="1"/>
          <p:nvPr/>
        </p:nvSpPr>
        <p:spPr>
          <a:xfrm rot="0" flipH="0" flipV="0">
            <a:off x="1264803" y="2109128"/>
            <a:ext cx="762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线下交易如何防止“一物多卖”？</a:t>
            </a:r>
            <a:endParaRPr/>
          </a:p>
        </p:txBody>
      </p:sp>
      <p:sp>
        <p:nvSpPr>
          <p:cNvPr id="350" name="AutoShape 23"/>
          <p:cNvSpPr txBox="1"/>
          <p:nvPr/>
        </p:nvSpPr>
        <p:spPr>
          <a:xfrm rot="0" flipH="0" flipV="0">
            <a:off x="1264803" y="3010560"/>
            <a:ext cx="762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设计了严谨的状态流转图。</a:t>
            </a:r>
            <a:endParaRPr/>
          </a:p>
        </p:txBody>
      </p:sp>
      <p:sp>
        <p:nvSpPr>
          <p:cNvPr id="351" name="AutoShape 23"/>
          <p:cNvSpPr txBox="1"/>
          <p:nvPr/>
        </p:nvSpPr>
        <p:spPr>
          <a:xfrm rot="0" flipH="0" flipV="0">
            <a:off x="1264803" y="3984089"/>
            <a:ext cx="762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发布商品 -&gt; 买家排队 -&gt; 卖家触发交易（冻结） -&gt; 线下交易 -&gt; 成功（下架）/ 失败（自动递补下一位买家）。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" name="AutoShape 3"/>
          <p:cNvSpPr txBox="1"/>
          <p:nvPr/>
        </p:nvSpPr>
        <p:spPr>
          <a:xfrm rot="0" flipH="0" flipV="0">
            <a:off x="5715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项目整体架构</a:t>
            </a:r>
            <a:endParaRPr lang="en-US" sz="1100"/>
          </a:p>
        </p:txBody>
      </p:sp>
      <p:sp>
        <p:nvSpPr>
          <p:cNvPr id="355" name="AutoShape 5"/>
          <p:cNvSpPr/>
          <p:nvPr/>
        </p:nvSpPr>
        <p:spPr>
          <a:xfrm rot="0" flipH="0" flipV="0">
            <a:off x="571500" y="952500"/>
            <a:ext cx="8001000" cy="3782228"/>
          </a:xfrm>
          <a:prstGeom prst="roundRect">
            <a:avLst>
              <a:gd name="adj" fmla="val 8000"/>
            </a:avLst>
          </a:prstGeom>
          <a:solidFill>
            <a:srgbClr val="E6F0FA">
              <a:alpha val="100000"/>
            </a:srgbClr>
          </a:solidFill>
          <a:ln w="12700" cap="flat" cmpd="sng">
            <a:solidFill>
              <a:srgbClr val="13436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" name="AutoShape 18"/>
          <p:cNvSpPr/>
          <p:nvPr/>
        </p:nvSpPr>
        <p:spPr>
          <a:xfrm rot="0" flipH="0" flipV="0">
            <a:off x="942593" y="1347788"/>
            <a:ext cx="1110356" cy="381000"/>
          </a:xfrm>
          <a:prstGeom prst="roundRect">
            <a:avLst>
              <a:gd name="adj" fmla="val 13333"/>
            </a:avLst>
          </a:prstGeom>
          <a:solidFill>
            <a:srgbClr val="3C64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" name="AutoShape 15"/>
          <p:cNvSpPr txBox="1"/>
          <p:nvPr/>
        </p:nvSpPr>
        <p:spPr>
          <a:xfrm rot="0" flipH="0" flipV="0">
            <a:off x="994562" y="1347788"/>
            <a:ext cx="1006418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项目进度</a:t>
            </a:r>
            <a:endParaRPr/>
          </a:p>
        </p:txBody>
      </p:sp>
      <p:sp>
        <p:nvSpPr>
          <p:cNvPr id="358" name="AutoShape 23"/>
          <p:cNvSpPr txBox="1"/>
          <p:nvPr/>
        </p:nvSpPr>
        <p:spPr>
          <a:xfrm rot="0" flipH="0" flipV="0">
            <a:off x="2223637" y="1423988"/>
            <a:ext cx="762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目前项目整体进度约为</a:t>
            </a:r>
            <a:r>
              <a:rPr lang="en-US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45%</a:t>
            </a:r>
            <a:endParaRPr/>
          </a:p>
        </p:txBody>
      </p:sp>
      <p:sp>
        <p:nvSpPr>
          <p:cNvPr id="359" name="AutoShape 23"/>
          <p:cNvSpPr txBox="1"/>
          <p:nvPr/>
        </p:nvSpPr>
        <p:spPr>
          <a:xfrm rot="0" flipH="0" flipV="0">
            <a:off x="1060174" y="1832560"/>
            <a:ext cx="7023652" cy="257326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在迭代 1 的收尾阶段：</a:t>
            </a: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我们的基线需求 MVP 已经全部跑通，包括单商品发布、意向排队、状态机流转等核心逻辑，并且 19 个后端接口全部可用。
</a:t>
            </a:r>
            <a:r>
              <a:rPr lang="zh-CN" sz="1100" b="1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在刚刚开启的迭代 2 中：</a:t>
            </a: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我们面临的是“挑战需求 A”，也就是从单商品升级为多商品体系，增加库存和类别，并引入买家账号注册。目前，需求侧已经明确了 8 个功能点，产出了产品订单和冲刺订单；后端的数据模型改造正在推进；前端的页面接入也已经排上了日程。
</a:t>
            </a:r>
            <a:r>
              <a:rPr lang="zh-CN" sz="1100" b="1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过程管理：</a:t>
            </a: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 Scrum Master，我制定了详细的任务拆解（26 个任务，共约 126 工时），并设定了燃尽图检查点。虽然目前禅道系统权限还没下发，但通过离线表格每日追踪工时，可以确保了团队进度的透明可视。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2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3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endParaRPr/>
          </a:p>
        </p:txBody>
      </p:sp>
      <p:sp>
        <p:nvSpPr>
          <p:cNvPr id="364" name="AutoShape 5"/>
          <p:cNvSpPr txBox="1"/>
          <p:nvPr/>
        </p:nvSpPr>
        <p:spPr>
          <a:xfrm rot="0" flipH="0" flipV="0">
            <a:off x="0" y="2540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后端商品模块与接口设计</a:t>
            </a:r>
            <a:endParaRPr/>
          </a:p>
        </p:txBody>
      </p:sp>
      <p:sp>
        <p:nvSpPr>
          <p:cNvPr id="365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r>
              <a:rPr lang="zh-CN" sz="16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工作</a:t>
            </a:r>
            <a:r>
              <a:rPr lang="en-US" sz="16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·商品模块 </a:t>
            </a:r>
            <a:r>
              <a:rPr lang="en-US" sz="16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 </a:t>
            </a:r>
            <a:r>
              <a:rPr lang="zh-CN" sz="16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核心接口设计（基线）</a:t>
            </a:r>
            <a:endParaRPr/>
          </a:p>
        </p:txBody>
      </p:sp>
      <p:sp>
        <p:nvSpPr>
          <p:cNvPr id="366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后端工作</a:t>
            </a:r>
            <a:endParaRPr/>
          </a:p>
        </p:txBody>
      </p:sp>
      <p:cxnSp>
        <p:nvCxnSpPr>
          <p:cNvPr id="367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8" name="AutoShape 10"/>
          <p:cNvSpPr txBox="1"/>
          <p:nvPr/>
        </p:nvSpPr>
        <p:spPr>
          <a:xfrm rot="0" flipH="0" flipV="0">
            <a:off x="1206500" y="1333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1. 商品表 status 字段设计</a:t>
            </a:r>
            <a:endParaRPr lang="en-US" sz="1100"/>
          </a:p>
        </p:txBody>
      </p:sp>
      <p:sp>
        <p:nvSpPr>
          <p:cNvPr id="369" name="AutoShape 11"/>
          <p:cNvSpPr txBox="1"/>
          <p:nvPr/>
        </p:nvSpPr>
        <p:spPr>
          <a:xfrm rot="0" flipH="0" flipV="0">
            <a:off x="1371600" y="16129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商品状态机：</a:t>
            </a:r>
            <a:r>
              <a:rPr lang="en-US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发布 / 冻结 / 恢复 / 成交四种状态</a:t>
            </a:r>
            <a:endParaRPr/>
          </a:p>
        </p:txBody>
      </p:sp>
      <p:sp>
        <p:nvSpPr>
          <p:cNvPr id="370" name="AutoShape 12"/>
          <p:cNvSpPr txBox="1"/>
          <p:nvPr/>
        </p:nvSpPr>
        <p:spPr>
          <a:xfrm rot="0" flipH="0" flipV="0">
            <a:off x="1206500" y="1968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商品模块接口：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发布 / 冻结 / 恢复 / 成交接口</a:t>
            </a:r>
            <a:endParaRPr/>
          </a:p>
        </p:txBody>
      </p:sp>
      <p:sp>
        <p:nvSpPr>
          <p:cNvPr id="371" name="AutoShape 13"/>
          <p:cNvSpPr txBox="1"/>
          <p:nvPr/>
        </p:nvSpPr>
        <p:spPr>
          <a:xfrm rot="0" flipH="0" flipV="0">
            <a:off x="1371600" y="22479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28282"/>
                </a:solidFill>
                <a:latin typeface="Noto Sans SC"/>
                <a:ea typeface="Noto Sans SC"/>
                <a:cs typeface="Noto Sans SC"/>
                <a:sym typeface="Noto Sans SC"/>
              </a:rPr>
              <a:t>REST API 设计与状态流转逻辑</a:t>
            </a:r>
            <a:endParaRPr lang="en-US" sz="1100"/>
          </a:p>
        </p:txBody>
      </p:sp>
      <p:sp>
        <p:nvSpPr>
          <p:cNvPr id="372" name="AutoShape 14"/>
          <p:cNvSpPr txBox="1"/>
          <p:nvPr/>
        </p:nvSpPr>
        <p:spPr>
          <a:xfrm rot="0" flipH="0" flipV="0">
            <a:off x="1206500" y="2603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100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3. 15 项状态机验证全通过</a:t>
            </a:r>
            <a:endParaRPr/>
          </a:p>
        </p:txBody>
      </p:sp>
      <p:sp>
        <p:nvSpPr>
          <p:cNvPr id="373" name="AutoShape 15"/>
          <p:cNvSpPr txBox="1"/>
          <p:nvPr/>
        </p:nvSpPr>
        <p:spPr>
          <a:xfrm rot="0" flipH="0" flipV="0">
            <a:off x="1289050" y="29210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00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含并发递补、重新排队、交易中禁止解冻下架等异常场景</a:t>
            </a:r>
            <a:endParaRPr/>
          </a:p>
        </p:txBody>
      </p:sp>
      <p:sp>
        <p:nvSpPr>
          <p:cNvPr id="374" name="AutoShape 18"/>
          <p:cNvSpPr/>
          <p:nvPr/>
        </p:nvSpPr>
        <p:spPr>
          <a:xfrm rot="0" flipH="0" flipV="0">
            <a:off x="4777441" y="762001"/>
            <a:ext cx="1427704" cy="1079499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5" name="AutoShape 20"/>
          <p:cNvSpPr/>
          <p:nvPr/>
        </p:nvSpPr>
        <p:spPr>
          <a:xfrm rot="0" flipH="0" flipV="0">
            <a:off x="4508500" y="3607482"/>
            <a:ext cx="952500" cy="837517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6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6363956" y="609599"/>
            <a:ext cx="2728409" cy="2463801"/>
          </a:xfrm>
          <a:prstGeom prst="rect"/>
        </p:spPr>
      </p:pic>
      <p:pic>
        <p:nvPicPr>
          <p:cNvPr id="377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179135" y="609600"/>
            <a:ext cx="2184821" cy="2624412"/>
          </a:xfrm>
          <a:prstGeom prst="rect"/>
        </p:spPr>
      </p:pic>
      <p:pic>
        <p:nvPicPr>
          <p:cNvPr id="378" nam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 flipH="0" flipV="0">
            <a:off x="3320541" y="3332699"/>
            <a:ext cx="5823459" cy="1387083"/>
          </a:xfrm>
          <a:prstGeom prst="rect"/>
        </p:spPr>
      </p:pic>
      <p:sp>
        <p:nvSpPr>
          <p:cNvPr id="379" name="AutoShape 14"/>
          <p:cNvSpPr txBox="1"/>
          <p:nvPr/>
        </p:nvSpPr>
        <p:spPr>
          <a:xfrm rot="0" flipH="0" flipV="0">
            <a:off x="3491328" y="4367474"/>
            <a:ext cx="6733344" cy="112568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关键代码举例：</a:t>
            </a:r>
            <a:r>
              <a:rPr lang="en-US" sz="1100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IdempotencyService.execute(key, "freeze")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幂等封装，防止卖家重复点击造成状态重复流转</a:t>
            </a:r>
            <a:endParaRPr/>
          </a:p>
        </p:txBody>
      </p:sp>
      <p:pic>
        <p:nvPicPr>
          <p:cNvPr id="380" nam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 flipH="0" flipV="0">
            <a:off x="4115219" y="635000"/>
            <a:ext cx="2312654" cy="2286000"/>
          </a:xfrm>
          <a:prstGeom prst="rect"/>
        </p:spPr>
      </p:pic>
      <p:pic>
        <p:nvPicPr>
          <p:cNvPr id="381" nam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 flipH="0" flipV="0">
            <a:off x="4127500" y="2857500"/>
            <a:ext cx="2300371" cy="493974"/>
          </a:xfrm>
          <a:prstGeom prst="rect"/>
        </p:spPr>
      </p:pic>
      <p:sp>
        <p:nvSpPr>
          <p:cNvPr id="382" name="AutoShape 12"/>
          <p:cNvSpPr txBox="1"/>
          <p:nvPr/>
        </p:nvSpPr>
        <p:spPr>
          <a:xfrm rot="0" flipH="0" flipV="0">
            <a:off x="1034562" y="3351474"/>
            <a:ext cx="2456766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具体成果物：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相关代码（已提交小组仓库）
后端商品模块设计文档（已写入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Wiki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3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5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6" name="AutoShape 4"/>
          <p:cNvSpPr txBox="1"/>
          <p:nvPr/>
        </p:nvSpPr>
        <p:spPr>
          <a:xfrm rot="0" flipH="0" flipV="0">
            <a:off x="635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endParaRPr/>
          </a:p>
        </p:txBody>
      </p:sp>
      <p:sp>
        <p:nvSpPr>
          <p:cNvPr id="387" name="AutoShape 5"/>
          <p:cNvSpPr txBox="1"/>
          <p:nvPr/>
        </p:nvSpPr>
        <p:spPr>
          <a:xfrm rot="0" flipH="0" flipV="0">
            <a:off x="0" y="2540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后端商品模块与接口设计</a:t>
            </a:r>
            <a:endParaRPr/>
          </a:p>
        </p:txBody>
      </p:sp>
      <p:sp>
        <p:nvSpPr>
          <p:cNvPr id="388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产品经理工作 · 需求与过程</a:t>
            </a:r>
            <a:endParaRPr/>
          </a:p>
        </p:txBody>
      </p:sp>
      <p:sp>
        <p:nvSpPr>
          <p:cNvPr id="389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挑战升级</a:t>
            </a:r>
            <a:r>
              <a:rPr lang="en-US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A 需求澄清</a:t>
            </a:r>
            <a:endParaRPr/>
          </a:p>
        </p:txBody>
      </p:sp>
      <p:cxnSp>
        <p:nvCxnSpPr>
          <p:cNvPr id="390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1" name="AutoShape 11"/>
          <p:cNvSpPr txBox="1"/>
          <p:nvPr/>
        </p:nvSpPr>
        <p:spPr>
          <a:xfrm rot="0" flipH="0" flipV="0">
            <a:off x="1206500" y="11430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约 80 问全部封口，冲突口径 4 处已裁决</a:t>
            </a:r>
            <a:endParaRPr/>
          </a:p>
        </p:txBody>
      </p:sp>
      <p:sp>
        <p:nvSpPr>
          <p:cNvPr id="392" name="AutoShape 13"/>
          <p:cNvSpPr txBox="1"/>
          <p:nvPr/>
        </p:nvSpPr>
        <p:spPr>
          <a:xfrm rot="0" flipH="0" flipV="0">
            <a:off x="5080000" y="1257300"/>
            <a:ext cx="31115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00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迭代 2 新增 8 条故事 / 25 故事点，验收标准可验收</a:t>
            </a:r>
            <a:endParaRPr/>
          </a:p>
        </p:txBody>
      </p:sp>
      <p:pic>
        <p:nvPicPr>
          <p:cNvPr id="393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1143000" y="1409700"/>
            <a:ext cx="2617023" cy="3276600"/>
          </a:xfrm>
          <a:prstGeom prst="rect"/>
        </p:spPr>
      </p:pic>
      <p:pic>
        <p:nvPicPr>
          <p:cNvPr id="394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887090" y="1485900"/>
            <a:ext cx="3243349" cy="2905955"/>
          </a:xfrm>
          <a:prstGeom prst="rect"/>
        </p:spPr>
      </p:pic>
      <p:sp>
        <p:nvSpPr>
          <p:cNvPr id="395" name="AutoShape 8"/>
          <p:cNvSpPr txBox="1"/>
          <p:nvPr/>
        </p:nvSpPr>
        <p:spPr>
          <a:xfrm rot="0" flipH="0" flipV="0">
            <a:off x="5080000" y="800101"/>
            <a:ext cx="3585662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用户故事</a:t>
            </a:r>
            <a:endParaRPr/>
          </a:p>
        </p:txBody>
      </p:sp>
      <p:cxnSp>
        <p:nvCxnSpPr>
          <p:cNvPr id="396" name="Connector 9"/>
          <p:cNvCxnSpPr/>
          <p:nvPr/>
        </p:nvCxnSpPr>
        <p:spPr>
          <a:xfrm rot="-15278" flipH="0" flipV="0">
            <a:off x="5080014" y="1136651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7" name="AutoShape 12"/>
          <p:cNvSpPr txBox="1"/>
          <p:nvPr/>
        </p:nvSpPr>
        <p:spPr>
          <a:xfrm rot="0" flipH="0" flipV="0">
            <a:off x="1143000" y="4798254"/>
            <a:ext cx="6794528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u="sng"/>
              <a:t>https://github.com/</a:t>
            </a:r>
            <a:r>
              <a:rPr u="sng">
                <a:hlinkClick r:id="rId4"/>
              </a:rPr>
              <a:t> </a:t>
            </a:r>
            <a:r>
              <a:rPr u="sng"/>
              <a:t>H15058218452-rgb/Software-Engineering-Experimental-Group/wiki/挑战升级A需求澄清问答记录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endParaRPr/>
          </a:p>
        </p:txBody>
      </p:sp>
      <p:sp>
        <p:nvSpPr>
          <p:cNvPr id="5" name="AutoShape 5"/>
          <p:cNvSpPr txBox="1"/>
          <p:nvPr/>
        </p:nvSpPr>
        <p:spPr>
          <a:xfrm rot="0" flipH="0" flipV="0">
            <a:off x="0" y="2540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后端商品模块与接口设计</a:t>
            </a:r>
            <a:endParaRPr/>
          </a:p>
        </p:txBody>
      </p:sp>
      <p:sp>
        <p:nvSpPr>
          <p:cNvPr id="6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产品订单（</a:t>
            </a:r>
            <a:r>
              <a:rPr lang="en-US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</a:t>
            </a: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duct backlog)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11"/>
          <p:cNvSpPr txBox="1"/>
          <p:nvPr/>
        </p:nvSpPr>
        <p:spPr>
          <a:xfrm rot="0" flipH="0" flipV="0">
            <a:off x="1206500" y="11684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Backlog 总表 + 与基线需求的冲突裁决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5237299" y="582613"/>
            <a:ext cx="3525701" cy="4422775"/>
          </a:xfrm>
          <a:prstGeom prst="rect"/>
        </p:spPr>
      </p:pic>
      <p:sp>
        <p:nvSpPr>
          <p:cNvPr id="10" name="AutoShape 12"/>
          <p:cNvSpPr txBox="1"/>
          <p:nvPr/>
        </p:nvSpPr>
        <p:spPr>
          <a:xfrm rot="0" flipH="0" flipV="0">
            <a:off x="1206500" y="1460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估点说明：</a:t>
            </a:r>
            <a:endParaRPr/>
          </a:p>
        </p:txBody>
      </p:sp>
      <p:sp>
        <p:nvSpPr>
          <p:cNvPr id="11" name="AutoShape 12"/>
          <p:cNvSpPr txBox="1"/>
          <p:nvPr/>
        </p:nvSpPr>
        <p:spPr>
          <a:xfrm rot="0" flipH="0" flipV="0">
            <a:off x="1123974" y="1587500"/>
            <a:ext cx="3694723" cy="1309272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故事点：相对估算，斐波那契数列（1/2/3/5/8），1 点 ≈ 1 人 4 小时理想工时，由此估点会评定；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·Importance：100 为最高，综合需求方裁定优先级与依赖关系排定；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状态取值：待开发 / 进行中 / 已完成</a:t>
            </a:r>
            <a:endParaRPr/>
          </a:p>
        </p:txBody>
      </p:sp>
      <p:sp>
        <p:nvSpPr>
          <p:cNvPr id="12" name="AutoShape 12"/>
          <p:cNvSpPr txBox="1"/>
          <p:nvPr/>
        </p:nvSpPr>
        <p:spPr>
          <a:xfrm rot="0" flipH="0" flipV="0">
            <a:off x="1143000" y="27940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与基线需求的冲突裁决：</a:t>
            </a:r>
            <a:endParaRPr/>
          </a:p>
        </p:txBody>
      </p:sp>
      <p:sp>
        <p:nvSpPr>
          <p:cNvPr id="13" name="AutoShape 13"/>
          <p:cNvSpPr txBox="1"/>
          <p:nvPr/>
        </p:nvSpPr>
        <p:spPr>
          <a:xfrm rot="0" flipH="0" flipV="0">
            <a:off x="1143000" y="3200400"/>
            <a:ext cx="3694747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基线和挑战 A 冲突的 7 处，我们逐条裁决以 A 为准，其中 4 处需求方口径本身矛盾，已记录待课程组复核之处一律以 A 为准，被取代的基线条目如下——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1116002" y="3616740"/>
            <a:ext cx="3702694" cy="1526760"/>
          </a:xfrm>
          <a:prstGeom prst="rect"/>
        </p:spPr>
      </p:pic>
      <p:sp>
        <p:nvSpPr>
          <p:cNvPr id="15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产品经理工作 · 需求与过程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杜美芳</a:t>
            </a:r>
            <a:endParaRPr/>
          </a:p>
        </p:txBody>
      </p:sp>
      <p:sp>
        <p:nvSpPr>
          <p:cNvPr id="20" name="AutoShape 5"/>
          <p:cNvSpPr txBox="1"/>
          <p:nvPr/>
        </p:nvSpPr>
        <p:spPr>
          <a:xfrm rot="0" flipH="0" flipV="0">
            <a:off x="0" y="2540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后端商品模块与接口设计</a:t>
            </a:r>
            <a:endParaRPr/>
          </a:p>
        </p:txBody>
      </p:sp>
      <p:cxnSp>
        <p:nvCxnSpPr>
          <p:cNvPr id="21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15"/>
          <p:cNvSpPr txBox="1"/>
          <p:nvPr/>
        </p:nvSpPr>
        <p:spPr>
          <a:xfrm rot="0" flipH="0" flipV="0">
            <a:off x="1244600" y="12319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 5 页 + 卖家端 3 页</a:t>
            </a:r>
            <a:endParaRPr/>
          </a:p>
        </p:txBody>
      </p:sp>
      <p:cxnSp>
        <p:nvCxnSpPr>
          <p:cNvPr id="23" name="Connector 9"/>
          <p:cNvCxnSpPr/>
          <p:nvPr/>
        </p:nvCxnSpPr>
        <p:spPr>
          <a:xfrm rot="-15278" flipH="0" flipV="0">
            <a:off x="1206514" y="21272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产品经理工作</a:t>
            </a:r>
            <a:r>
              <a:rPr lang="en-US"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·</a:t>
            </a: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线框图</a:t>
            </a:r>
            <a:r>
              <a:rPr lang="en-US"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 +</a:t>
            </a: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成果展示</a:t>
            </a:r>
            <a:r>
              <a:rPr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 </a:t>
            </a:r>
            <a:r>
              <a:rPr sz="16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5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线框图：迭代 2 的 8 个关键页面</a:t>
            </a:r>
            <a:endParaRPr/>
          </a:p>
        </p:txBody>
      </p:sp>
      <p:sp>
        <p:nvSpPr>
          <p:cNvPr id="26" name="AutoShape 8"/>
          <p:cNvSpPr txBox="1"/>
          <p:nvPr/>
        </p:nvSpPr>
        <p:spPr>
          <a:xfrm rot="0" flipH="0" flipV="0">
            <a:off x="1143000" y="17653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过程</a:t>
            </a:r>
            <a:r>
              <a:rPr lang="en-US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成果文档（截止</a:t>
            </a:r>
            <a:r>
              <a:rPr lang="en-US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10.21</a:t>
            </a: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312920" y="612680"/>
            <a:ext cx="4762500" cy="4464241"/>
          </a:xfrm>
          <a:prstGeom prst="rect"/>
        </p:spPr>
      </p:pic>
      <p:sp>
        <p:nvSpPr>
          <p:cNvPr id="28" name="AutoShape 12"/>
          <p:cNvSpPr txBox="1"/>
          <p:nvPr/>
        </p:nvSpPr>
        <p:spPr>
          <a:xfrm rot="0" flipH="0" flipV="0">
            <a:off x="1142972" y="1792764"/>
            <a:ext cx="2921028" cy="1494472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挑战升级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需求澄清问答记录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用户故事（迭代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2·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挑战需求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1"/>
              <a:t> ·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产品订单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Product Backlog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冲刺订单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Sprint Backlog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（初稿已编制，待待全组迭代计划会评审确认后确认）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bg>
      <p:bgPr>
        <a:solidFill>
          <a:srgbClr val="FFFFFF">
            <a:alpha val="100000"/>
          </a:srgbClr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endParaRPr/>
          </a:p>
        </p:txBody>
      </p:sp>
      <p:sp>
        <p:nvSpPr>
          <p:cNvPr id="33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</a:t>
            </a:r>
            <a:endParaRPr lang="en-US" sz="1100"/>
          </a:p>
        </p:txBody>
      </p:sp>
      <p:sp>
        <p:nvSpPr>
          <p:cNvPr id="34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前端买家端</a:t>
            </a:r>
            <a:endParaRPr lang="en-US" sz="1100"/>
          </a:p>
        </p:txBody>
      </p:sp>
      <p:sp>
        <p:nvSpPr>
          <p:cNvPr id="35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商品浏览首页</a:t>
            </a:r>
            <a:endParaRPr/>
          </a:p>
        </p:txBody>
      </p:sp>
      <p:cxnSp>
        <p:nvCxnSpPr>
          <p:cNvPr id="36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5"/>
          <p:cNvSpPr txBox="1"/>
          <p:nvPr/>
        </p:nvSpPr>
        <p:spPr>
          <a:xfrm rot="0" flipH="0" flipV="0">
            <a:off x="1345078" y="1700655"/>
            <a:ext cx="3099922" cy="277269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50"/>
              <a:t>页面结构：顶部欢迎条 → 头部导航（Logo / 首页 / 卖家入口）→ 商品卡片 → 底部意向管理入口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050"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050"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050"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50"/>
              <a:t>loadProduct</a:t>
            </a:r>
            <a:r>
              <a:rPr lang="zh-CN" sz="1050"/>
              <a:t>函数是首页的数据加载核心。打开页面自动请求商品接口，用 try-catch-finally 结构，成功拿到商品信息；出错时捕获异常给出提示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050"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837578" y="3207666"/>
            <a:ext cx="4083519" cy="1847850"/>
          </a:xfrm>
          <a:prstGeom prst="rect"/>
        </p:spPr>
      </p:pic>
      <p:pic>
        <p:nvPicPr>
          <p:cNvPr id="39" name=""/>
          <p:cNvPicPr>
            <a:picLocks noChangeAspect="1"/>
          </p:cNvPicPr>
          <p:nvPr/>
        </p:nvPicPr>
        <p:blipFill>
          <a:blip r:embed="rId3">
            <a:alphaModFix amt="10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2120" t="0" r="2120" b="0"/>
          <a:stretch>
            <a:fillRect/>
          </a:stretch>
        </p:blipFill>
        <p:spPr>
          <a:xfrm rot="0" flipH="0" flipV="0">
            <a:off x="4837578" y="722999"/>
            <a:ext cx="2918712" cy="2364002"/>
          </a:xfrm>
          <a:prstGeom prst="rect"/>
          <a:noFill/>
          <a:ln w="0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endParaRPr/>
          </a:p>
        </p:txBody>
      </p:sp>
      <p:sp>
        <p:nvSpPr>
          <p:cNvPr id="44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</a:t>
            </a:r>
            <a:endParaRPr lang="en-US" sz="1100"/>
          </a:p>
        </p:txBody>
      </p:sp>
      <p:sp>
        <p:nvSpPr>
          <p:cNvPr id="45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前端买家端</a:t>
            </a:r>
            <a:endParaRPr lang="en-US" sz="1100"/>
          </a:p>
        </p:txBody>
      </p:sp>
      <p:sp>
        <p:nvSpPr>
          <p:cNvPr id="46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商品详情页</a:t>
            </a:r>
            <a:endParaRPr/>
          </a:p>
        </p:txBody>
      </p:sp>
      <p:cxnSp>
        <p:nvCxnSpPr>
          <p:cNvPr id="47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10"/>
          <p:cNvSpPr txBox="1"/>
          <p:nvPr/>
        </p:nvSpPr>
        <p:spPr>
          <a:xfrm rot="0" flipH="0" flipV="0">
            <a:off x="1206500" y="1333500"/>
            <a:ext cx="3471270" cy="350976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页面结构：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顶部导航（Logo / 首页 / 卖家入口） → 面包屑导航 → 商品信息卡片（左大图 + 右侧名称/价格/动态状态） → 商品详情区（Tab页签、图文介绍、参数表格） → 底部意向管理入口。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核心逻辑与状态控制：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 UI 映射：根据后端返回的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product.status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映射中文状态字典；根据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canSubmitIntent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字段动态控制“提交购买意向”按钮的置灰禁用状态与提示文案。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安全加载与异常兜底：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loadProduct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函数配合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loading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error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响应式变量，实现加载中提示、接口报错捕获及空数据状态（暂无在售商品）的友好展示。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组件化拆分：将复杂的意向提交与口令码展示逻辑，抽离封装为独立的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SubmitIntentModal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弹窗组件，保持页面代码整洁。</a:t>
            </a:r>
            <a:endParaRPr/>
          </a:p>
        </p:txBody>
      </p:sp>
      <p:pic>
        <p:nvPicPr>
          <p:cNvPr id="49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822509" y="2973685"/>
            <a:ext cx="4321491" cy="1869580"/>
          </a:xfrm>
          <a:prstGeom prst="rect"/>
        </p:spPr>
      </p:pic>
      <p:pic>
        <p:nvPicPr>
          <p:cNvPr id="50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931770" y="617835"/>
            <a:ext cx="3241449" cy="235585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endParaRPr/>
          </a:p>
        </p:txBody>
      </p:sp>
      <p:sp>
        <p:nvSpPr>
          <p:cNvPr id="55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</a:t>
            </a:r>
            <a:endParaRPr lang="en-US" sz="1100"/>
          </a:p>
        </p:txBody>
      </p:sp>
      <p:sp>
        <p:nvSpPr>
          <p:cNvPr id="56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前端买家端</a:t>
            </a:r>
            <a:endParaRPr lang="en-US" sz="1100"/>
          </a:p>
        </p:txBody>
      </p:sp>
      <p:sp>
        <p:nvSpPr>
          <p:cNvPr id="57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购买意向提交弹窗</a:t>
            </a:r>
            <a:endParaRPr/>
          </a:p>
        </p:txBody>
      </p:sp>
      <p:cxnSp>
        <p:nvCxnSpPr>
          <p:cNvPr id="58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AutoShape 10"/>
          <p:cNvSpPr txBox="1"/>
          <p:nvPr/>
        </p:nvSpPr>
        <p:spPr>
          <a:xfrm rot="0" flipH="0" flipV="0">
            <a:off x="1079500" y="1358900"/>
            <a:ext cx="2921000" cy="3532694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交互设计：采用 Modal 弹窗形式，通过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step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变量在同一组件内切换“表单填写”和“成功展示”两个视图，避免页面跳转。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核心逻辑与异常处理：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前端校验：使用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trim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去除空格，利用正则表达式校验 11 位手机号格式，姓名长度限制为 20 字符。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防抖与异常兜底：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submitting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状态防止用户连点；在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catch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中针对后端特定的错误码（如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40904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重复提交）进行 UI 提示。</a:t>
            </a:r>
            <a:endParaRPr/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 r:embed="rId2"/>
          <a:srcRect l="0" t="-594" r="29943" b="53194"/>
          <a:stretch>
            <a:fillRect/>
          </a:stretch>
        </p:blipFill>
        <p:spPr>
          <a:xfrm rot="0" flipH="0" flipV="0">
            <a:off x="4000500" y="3232639"/>
            <a:ext cx="2476500" cy="1777114"/>
          </a:xfrm>
          <a:prstGeom prst="rect"/>
        </p:spPr>
      </p:pic>
      <p:pic>
        <p:nvPicPr>
          <p:cNvPr id="61" name=""/>
          <p:cNvPicPr>
            <a:picLocks noChangeAspect="1"/>
          </p:cNvPicPr>
          <p:nvPr/>
        </p:nvPicPr>
        <p:blipFill>
          <a:blip r:embed="rId2"/>
          <a:srcRect l="0" t="47251" r="13666" b="0"/>
          <a:stretch>
            <a:fillRect/>
          </a:stretch>
        </p:blipFill>
        <p:spPr>
          <a:xfrm rot="0" flipH="0" flipV="0">
            <a:off x="6195221" y="3165767"/>
            <a:ext cx="2948779" cy="1910859"/>
          </a:xfrm>
          <a:prstGeom prst="rect"/>
        </p:spPr>
      </p:pic>
      <p:pic>
        <p:nvPicPr>
          <p:cNvPr id="62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064000" y="1231900"/>
            <a:ext cx="2794000" cy="1850248"/>
          </a:xfrm>
          <a:prstGeom prst="rect"/>
        </p:spPr>
      </p:pic>
      <p:pic>
        <p:nvPicPr>
          <p:cNvPr id="63" nam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 flipH="0" flipV="0">
            <a:off x="7035971" y="571500"/>
            <a:ext cx="2108029" cy="2508250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endParaRPr/>
          </a:p>
        </p:txBody>
      </p:sp>
      <p:sp>
        <p:nvSpPr>
          <p:cNvPr id="68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</a:t>
            </a:r>
            <a:endParaRPr lang="en-US" sz="1100"/>
          </a:p>
        </p:txBody>
      </p:sp>
      <p:sp>
        <p:nvSpPr>
          <p:cNvPr id="69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前端买家端</a:t>
            </a:r>
            <a:endParaRPr lang="en-US" sz="1100"/>
          </a:p>
        </p:txBody>
      </p:sp>
      <p:sp>
        <p:nvSpPr>
          <p:cNvPr id="70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意向管理页</a:t>
            </a:r>
            <a:endParaRPr/>
          </a:p>
        </p:txBody>
      </p:sp>
      <p:cxnSp>
        <p:nvCxnSpPr>
          <p:cNvPr id="71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AutoShape 10"/>
          <p:cNvSpPr txBox="1"/>
          <p:nvPr/>
        </p:nvSpPr>
        <p:spPr>
          <a:xfrm rot="0" flipH="0" flipV="0">
            <a:off x="1206500" y="1397000"/>
            <a:ext cx="3429000" cy="2289273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页面结构：顶部提示语告知用户输入口令码的目的 → 核心输入框→ 红色“查询意向”主按钮 → 底部提供返回首页的链接。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用户输入口令码查到数据后，口令码存入localStorage，跳转到意向详情页时，后续所有的修改和撤销接口，都能自动带上口令码，不用用户再输一次；前端针对后端的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40905 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失效错误码做了专门的拦截，如果用户输入了过期的口令码，页面会给出明确的提示。</a:t>
            </a:r>
            <a:endParaRPr/>
          </a:p>
        </p:txBody>
      </p:sp>
      <p:pic>
        <p:nvPicPr>
          <p:cNvPr id="73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5246243" y="2601863"/>
            <a:ext cx="2994949" cy="2571750"/>
          </a:xfrm>
          <a:prstGeom prst="rect"/>
        </p:spPr>
      </p:pic>
      <p:pic>
        <p:nvPicPr>
          <p:cNvPr id="74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5246243" y="571500"/>
            <a:ext cx="2820633" cy="1970137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童昕祺</a:t>
            </a:r>
            <a:endParaRPr/>
          </a:p>
        </p:txBody>
      </p:sp>
      <p:sp>
        <p:nvSpPr>
          <p:cNvPr id="79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</a:t>
            </a:r>
            <a:endParaRPr lang="en-US" sz="1100"/>
          </a:p>
        </p:txBody>
      </p:sp>
      <p:sp>
        <p:nvSpPr>
          <p:cNvPr id="80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前端买家端</a:t>
            </a:r>
            <a:endParaRPr lang="en-US" sz="1100"/>
          </a:p>
        </p:txBody>
      </p:sp>
      <p:sp>
        <p:nvSpPr>
          <p:cNvPr id="81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意向详情页</a:t>
            </a:r>
            <a:endParaRPr/>
          </a:p>
        </p:txBody>
      </p:sp>
      <p:cxnSp>
        <p:nvCxnSpPr>
          <p:cNvPr id="82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AutoShape 10"/>
          <p:cNvSpPr txBox="1"/>
          <p:nvPr/>
        </p:nvSpPr>
        <p:spPr>
          <a:xfrm rot="0" flipH="0" flipV="0">
            <a:off x="1143000" y="1397000"/>
            <a:ext cx="3123294" cy="330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页面采用“状态机驱动”的设计理念。前端根据后端返回的意向状态，自动切换不同的页面视图。当状态为“排队中”时，展示当前排队位次，并开放修改与撤销操作；当进入“交易中”时，系统会强制禁用所有操作按钮，防止数据冲突；若“已失效”，仅引导用户返回首页。</a:t>
            </a:r>
            <a:endParaRPr/>
          </a:p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0" i="0" u="none" strike="noStrike">
              <a:solidFill>
                <a:srgbClr val="323232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了保证操作安全，修改联系信息与撤销意向均采用了弹窗二次确认机制，其中修改信息不会影响用户原有的排队顺序。同时，页面通过计算属性联动顶部状态条的颜色，实现视觉与状态的统一。此外，在数据加载环节，系统不仅拉取意向详情，还会异步获取最新的商品价格与名称进行合并展示，确保用户看到的信息实时准确。</a:t>
            </a:r>
            <a:endParaRPr/>
          </a:p>
        </p:txBody>
      </p:sp>
      <p:pic>
        <p:nvPicPr>
          <p:cNvPr id="84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762500" y="3206750"/>
            <a:ext cx="4357687" cy="1936750"/>
          </a:xfrm>
          <a:prstGeom prst="rect"/>
        </p:spPr>
      </p:pic>
      <p:pic>
        <p:nvPicPr>
          <p:cNvPr id="85" name=""/>
          <p:cNvPicPr>
            <a:picLocks noChangeAspect="1"/>
          </p:cNvPicPr>
          <p:nvPr/>
        </p:nvPicPr>
        <p:blipFill>
          <a:blip r:embed="rId3"/>
          <a:srcRect l="3552" t="0" r="4736" b="0"/>
          <a:stretch>
            <a:fillRect/>
          </a:stretch>
        </p:blipFill>
        <p:spPr>
          <a:xfrm rot="0" flipH="0" flipV="0">
            <a:off x="4341381" y="592953"/>
            <a:ext cx="2368225" cy="2624095"/>
          </a:xfrm>
          <a:prstGeom prst="rect"/>
        </p:spPr>
      </p:pic>
      <p:pic>
        <p:nvPicPr>
          <p:cNvPr id="86" name=""/>
          <p:cNvPicPr>
            <a:picLocks noChangeAspect="1"/>
          </p:cNvPicPr>
          <p:nvPr/>
        </p:nvPicPr>
        <p:blipFill>
          <a:blip r:embed="rId4"/>
          <a:srcRect l="3453" t="0" r="4892" b="0"/>
          <a:stretch>
            <a:fillRect/>
          </a:stretch>
        </p:blipFill>
        <p:spPr>
          <a:xfrm rot="0" flipH="0" flipV="0">
            <a:off x="6709606" y="571500"/>
            <a:ext cx="2434394" cy="2538961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endParaRPr/>
          </a:p>
        </p:txBody>
      </p:sp>
      <p:sp>
        <p:nvSpPr>
          <p:cNvPr id="91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</a:t>
            </a:r>
            <a:endParaRPr lang="en-US" sz="1100"/>
          </a:p>
        </p:txBody>
      </p:sp>
      <p:sp>
        <p:nvSpPr>
          <p:cNvPr id="92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前端卖家后台</a:t>
            </a:r>
            <a:endParaRPr lang="en-US" sz="1100"/>
          </a:p>
        </p:txBody>
      </p:sp>
      <p:sp>
        <p:nvSpPr>
          <p:cNvPr id="93" name="AutoShape 8"/>
          <p:cNvSpPr txBox="1"/>
          <p:nvPr/>
        </p:nvSpPr>
        <p:spPr>
          <a:xfrm rot="0" flipH="0" flipV="0">
            <a:off x="123825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000" b="1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整体页面开发与登录拦截</a:t>
            </a:r>
            <a:endParaRPr/>
          </a:p>
        </p:txBody>
      </p:sp>
      <p:cxnSp>
        <p:nvCxnSpPr>
          <p:cNvPr id="94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AutoShape 10"/>
          <p:cNvSpPr txBox="1"/>
          <p:nvPr/>
        </p:nvSpPr>
        <p:spPr>
          <a:xfrm rot="0" flipH="0" flipV="0">
            <a:off x="1206500" y="13589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完成情况</a:t>
            </a:r>
            <a:endParaRPr/>
          </a:p>
        </p:txBody>
      </p:sp>
      <p:sp>
        <p:nvSpPr>
          <p:cNvPr id="96" name="AutoShape 12"/>
          <p:cNvSpPr txBox="1"/>
          <p:nvPr/>
        </p:nvSpPr>
        <p:spPr>
          <a:xfrm rot="0" flipH="0" flipV="0">
            <a:off x="1238250" y="22860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登陆安全</a:t>
            </a:r>
            <a:endParaRPr/>
          </a:p>
        </p:txBody>
      </p:sp>
      <p:sp>
        <p:nvSpPr>
          <p:cNvPr id="97" name="AutoShape 13"/>
          <p:cNvSpPr txBox="1"/>
          <p:nvPr/>
        </p:nvSpPr>
        <p:spPr>
          <a:xfrm rot="0" flipH="0" flipV="0">
            <a:off x="1206500" y="2638981"/>
            <a:ext cx="2755900" cy="43703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在发请求时自动带上登录凭证（Token），如果没登录，直接拦截在后台门外，跳回登录页。</a:t>
            </a:r>
            <a:endParaRPr/>
          </a:p>
        </p:txBody>
      </p:sp>
      <p:sp>
        <p:nvSpPr>
          <p:cNvPr id="98" name="AutoShape 14"/>
          <p:cNvSpPr txBox="1"/>
          <p:nvPr/>
        </p:nvSpPr>
        <p:spPr>
          <a:xfrm rot="0" flipH="0" flipV="0">
            <a:off x="1238250" y="3266288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统一请求</a:t>
            </a:r>
            <a:endParaRPr/>
          </a:p>
        </p:txBody>
      </p:sp>
      <p:sp>
        <p:nvSpPr>
          <p:cNvPr id="99" name="AutoShape 15"/>
          <p:cNvSpPr txBox="1"/>
          <p:nvPr/>
        </p:nvSpPr>
        <p:spPr>
          <a:xfrm rot="0" flipH="0" flipV="0">
            <a:off x="1206500" y="36449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封装了网络请求，统一处理各种报错提示。</a:t>
            </a:r>
            <a:endParaRPr/>
          </a:p>
        </p:txBody>
      </p:sp>
      <p:sp>
        <p:nvSpPr>
          <p:cNvPr id="100" name="AutoShape 17"/>
          <p:cNvSpPr txBox="1"/>
          <p:nvPr/>
        </p:nvSpPr>
        <p:spPr>
          <a:xfrm rot="0" flipH="0" flipV="0">
            <a:off x="1206500" y="1685801"/>
            <a:ext cx="3219450" cy="5272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完成了卖家后台（登录、发布商品、商品管理、意向管理、修改密码）全部 5 个页面的开发和接口对接。</a:t>
            </a:r>
            <a:endParaRPr/>
          </a:p>
        </p:txBody>
      </p:sp>
      <p:pic>
        <p:nvPicPr>
          <p:cNvPr id="101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984750" y="710782"/>
            <a:ext cx="2603500" cy="2477337"/>
          </a:xfrm>
          <a:prstGeom prst="rect"/>
        </p:spPr>
      </p:pic>
      <p:pic>
        <p:nvPicPr>
          <p:cNvPr id="102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095750" y="3266288"/>
            <a:ext cx="4694009" cy="1180882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endParaRPr/>
          </a:p>
        </p:txBody>
      </p:sp>
      <p:sp>
        <p:nvSpPr>
          <p:cNvPr id="107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</a:t>
            </a:r>
            <a:endParaRPr lang="en-US" sz="1100"/>
          </a:p>
        </p:txBody>
      </p:sp>
      <p:sp>
        <p:nvSpPr>
          <p:cNvPr id="108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前端卖家后台</a:t>
            </a:r>
            <a:endParaRPr lang="en-US" sz="1100"/>
          </a:p>
        </p:txBody>
      </p:sp>
      <p:sp>
        <p:nvSpPr>
          <p:cNvPr id="109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/>
            <a:r>
              <a:rPr sz="2000" b="1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商品状态切换与按钮控制</a:t>
            </a:r>
            <a:endParaRPr/>
          </a:p>
        </p:txBody>
      </p:sp>
      <p:cxnSp>
        <p:nvCxnSpPr>
          <p:cNvPr id="110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AutoShape 10"/>
          <p:cNvSpPr txBox="1"/>
          <p:nvPr/>
        </p:nvSpPr>
        <p:spPr>
          <a:xfrm rot="0" flipH="0" flipV="0">
            <a:off x="1212850" y="1333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商品状态</a:t>
            </a:r>
            <a:endParaRPr/>
          </a:p>
        </p:txBody>
      </p:sp>
      <p:sp>
        <p:nvSpPr>
          <p:cNvPr id="112" name="AutoShape 11"/>
          <p:cNvSpPr txBox="1"/>
          <p:nvPr/>
        </p:nvSpPr>
        <p:spPr>
          <a:xfrm rot="0" flipH="0" flipV="0">
            <a:off x="1206500" y="1708150"/>
            <a:ext cx="27559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实现了“在售、冻结、交易中、已下架”四种状态的页面展示。</a:t>
            </a:r>
            <a:endParaRPr/>
          </a:p>
        </p:txBody>
      </p:sp>
      <p:sp>
        <p:nvSpPr>
          <p:cNvPr id="113" name="AutoShape 12"/>
          <p:cNvSpPr txBox="1"/>
          <p:nvPr/>
        </p:nvSpPr>
        <p:spPr>
          <a:xfrm rot="0" flipH="0" flipV="0">
            <a:off x="1206500" y="22860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按钮控制</a:t>
            </a:r>
            <a:endParaRPr/>
          </a:p>
        </p:txBody>
      </p:sp>
      <p:sp>
        <p:nvSpPr>
          <p:cNvPr id="114" name="AutoShape 13"/>
          <p:cNvSpPr txBox="1"/>
          <p:nvPr/>
        </p:nvSpPr>
        <p:spPr>
          <a:xfrm rot="0" flipH="0" flipV="0">
            <a:off x="1212850" y="2691188"/>
            <a:ext cx="2755900" cy="4874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前端严格按照后端返回的数</a:t>
            </a:r>
            <a:r>
              <a:rPr lang="zh-CN"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据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来显示对应的操作按钮</a:t>
            </a:r>
            <a:endParaRPr/>
          </a:p>
        </p:txBody>
      </p:sp>
      <p:sp>
        <p:nvSpPr>
          <p:cNvPr id="115" name="AutoShape 14"/>
          <p:cNvSpPr txBox="1"/>
          <p:nvPr/>
        </p:nvSpPr>
        <p:spPr>
          <a:xfrm rot="0" flipH="0" flipV="0">
            <a:off x="1212850" y="3329825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防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重复提交</a:t>
            </a:r>
            <a:endParaRPr/>
          </a:p>
        </p:txBody>
      </p:sp>
      <p:sp>
        <p:nvSpPr>
          <p:cNvPr id="116" name="AutoShape 15"/>
          <p:cNvSpPr txBox="1"/>
          <p:nvPr/>
        </p:nvSpPr>
        <p:spPr>
          <a:xfrm rot="0" flipH="0" flipV="0">
            <a:off x="1206500" y="3721100"/>
            <a:ext cx="27559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点击</a:t>
            </a:r>
            <a:r>
              <a:rPr lang="en-US"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"</a:t>
            </a:r>
            <a:r>
              <a:rPr lang="zh-CN"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立即发布</a:t>
            </a:r>
            <a:r>
              <a:rPr lang="en-US"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"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后，按钮会自动转圈（Loading），防止用户点两次发出重复请求。</a:t>
            </a:r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523847" y="901420"/>
            <a:ext cx="3481447" cy="1880160"/>
          </a:xfrm>
          <a:prstGeom prst="rect"/>
        </p:spPr>
      </p:pic>
      <p:pic>
        <p:nvPicPr>
          <p:cNvPr id="118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572000" y="2934913"/>
            <a:ext cx="3619500" cy="1939237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endParaRPr/>
          </a:p>
        </p:txBody>
      </p:sp>
      <p:sp>
        <p:nvSpPr>
          <p:cNvPr id="123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</a:t>
            </a:r>
            <a:endParaRPr lang="en-US" sz="1100"/>
          </a:p>
        </p:txBody>
      </p:sp>
      <p:sp>
        <p:nvSpPr>
          <p:cNvPr id="124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前端卖家后台</a:t>
            </a:r>
            <a:endParaRPr lang="en-US" sz="1100"/>
          </a:p>
        </p:txBody>
      </p:sp>
      <p:sp>
        <p:nvSpPr>
          <p:cNvPr id="125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000" b="1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交易确认与异常处理</a:t>
            </a:r>
            <a:endParaRPr/>
          </a:p>
        </p:txBody>
      </p:sp>
      <p:cxnSp>
        <p:nvCxnSpPr>
          <p:cNvPr id="126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AutoShape 10"/>
          <p:cNvSpPr txBox="1"/>
          <p:nvPr/>
        </p:nvSpPr>
        <p:spPr>
          <a:xfrm rot="0" flipH="0" flipV="0">
            <a:off x="1206500" y="1333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传参排错</a:t>
            </a:r>
            <a:endParaRPr/>
          </a:p>
        </p:txBody>
      </p:sp>
      <p:sp>
        <p:nvSpPr>
          <p:cNvPr id="128" name="AutoShape 11"/>
          <p:cNvSpPr txBox="1"/>
          <p:nvPr/>
        </p:nvSpPr>
        <p:spPr>
          <a:xfrm rot="0" flipH="0" flipV="0">
            <a:off x="1206500" y="1720850"/>
            <a:ext cx="2755900" cy="603250"/>
          </a:xfrm>
          <a:prstGeom prst="rect">
            <a:avLst/>
          </a:prstGeom>
          <a:solidFill>
            <a:schemeClr val="bg1">
              <a:alpha val="100000"/>
            </a:schemeClr>
          </a:solidFill>
          <a:ln w="12700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解决点击“确认成交”没反应的问题，通过查询意向列表，拿到了正确的买家意向 ID（intentId）传给后端。</a:t>
            </a:r>
            <a:endParaRPr/>
          </a:p>
        </p:txBody>
      </p:sp>
      <p:sp>
        <p:nvSpPr>
          <p:cNvPr id="129" name="AutoShape 12"/>
          <p:cNvSpPr txBox="1"/>
          <p:nvPr/>
        </p:nvSpPr>
        <p:spPr>
          <a:xfrm rot="0" flipH="0" flipV="0">
            <a:off x="1206500" y="245745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弹窗选择</a:t>
            </a:r>
            <a:endParaRPr/>
          </a:p>
        </p:txBody>
      </p:sp>
      <p:sp>
        <p:nvSpPr>
          <p:cNvPr id="130" name="AutoShape 13"/>
          <p:cNvSpPr txBox="1"/>
          <p:nvPr/>
        </p:nvSpPr>
        <p:spPr>
          <a:xfrm rot="0" flipH="0" flipV="0">
            <a:off x="1206500" y="2863850"/>
            <a:ext cx="2755900" cy="405654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按照需求文档，交易失败时前端弹出选择框，让卖家选择是“作废”还是“重新排队”。</a:t>
            </a:r>
            <a:endParaRPr/>
          </a:p>
        </p:txBody>
      </p:sp>
      <p:sp>
        <p:nvSpPr>
          <p:cNvPr id="131" name="AutoShape 14"/>
          <p:cNvSpPr txBox="1"/>
          <p:nvPr/>
        </p:nvSpPr>
        <p:spPr>
          <a:xfrm rot="0" flipH="0" flipV="0">
            <a:off x="1206500" y="3387725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3. </a:t>
            </a:r>
            <a:r>
              <a:rPr sz="1400" b="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异常捕获机制</a:t>
            </a:r>
            <a:endParaRPr/>
          </a:p>
        </p:txBody>
      </p:sp>
      <p:sp>
        <p:nvSpPr>
          <p:cNvPr id="132" name="AutoShape 15"/>
          <p:cNvSpPr txBox="1"/>
          <p:nvPr/>
        </p:nvSpPr>
        <p:spPr>
          <a:xfrm rot="0" flipH="0" flipV="0">
            <a:off x="1206500" y="3759946"/>
            <a:ext cx="27559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所有关键操作都加了 try...catch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 异常拦截，如果后端报错，页面会弹出红色提示，不会白屏死机。</a:t>
            </a:r>
            <a:endParaRPr/>
          </a:p>
        </p:txBody>
      </p:sp>
      <p:pic>
        <p:nvPicPr>
          <p:cNvPr id="133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136755" y="825500"/>
            <a:ext cx="4698972" cy="1580894"/>
          </a:xfrm>
          <a:prstGeom prst="rect"/>
        </p:spPr>
      </p:pic>
      <p:pic>
        <p:nvPicPr>
          <p:cNvPr id="134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572000" y="2516060"/>
            <a:ext cx="3899070" cy="2487773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lv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2400" b="1" i="0" u="none" strike="noStrike">
              <a:solidFill>
                <a:srgbClr val="FFFFFF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8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</a:t>
            </a:r>
            <a:endParaRPr lang="en-US" sz="1100"/>
          </a:p>
        </p:txBody>
      </p:sp>
      <p:sp>
        <p:nvSpPr>
          <p:cNvPr id="139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前端卖家后台</a:t>
            </a:r>
            <a:endParaRPr lang="en-US" sz="1100"/>
          </a:p>
        </p:txBody>
      </p:sp>
      <p:sp>
        <p:nvSpPr>
          <p:cNvPr id="140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000" b="1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前端表单限制与用户体验</a:t>
            </a:r>
            <a:endParaRPr/>
          </a:p>
        </p:txBody>
      </p:sp>
      <p:cxnSp>
        <p:nvCxnSpPr>
          <p:cNvPr id="141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AutoShape 10"/>
          <p:cNvSpPr txBox="1"/>
          <p:nvPr/>
        </p:nvSpPr>
        <p:spPr>
          <a:xfrm rot="0" flipH="0" flipV="0">
            <a:off x="1206500" y="13589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发布商品限制</a:t>
            </a:r>
            <a:endParaRPr/>
          </a:p>
        </p:txBody>
      </p:sp>
      <p:sp>
        <p:nvSpPr>
          <p:cNvPr id="143" name="AutoShape 11"/>
          <p:cNvSpPr txBox="1"/>
          <p:nvPr/>
        </p:nvSpPr>
        <p:spPr>
          <a:xfrm rot="0" flipH="0" flipV="0">
            <a:off x="1206500" y="1790700"/>
            <a:ext cx="2755900" cy="546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在前端限制只能上传 JPG/PNG 格式的图片，且不能超过 5MB；对价格做正则校验，限制必须大于 0 且最多两位小数。</a:t>
            </a:r>
            <a:endParaRPr/>
          </a:p>
        </p:txBody>
      </p:sp>
      <p:sp>
        <p:nvSpPr>
          <p:cNvPr id="144" name="AutoShape 12"/>
          <p:cNvSpPr txBox="1"/>
          <p:nvPr/>
        </p:nvSpPr>
        <p:spPr>
          <a:xfrm rot="0" flipH="0" flipV="0">
            <a:off x="1206500" y="25527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修改密码限制</a:t>
            </a:r>
            <a:endParaRPr/>
          </a:p>
        </p:txBody>
      </p:sp>
      <p:sp>
        <p:nvSpPr>
          <p:cNvPr id="145" name="AutoShape 13"/>
          <p:cNvSpPr txBox="1"/>
          <p:nvPr/>
        </p:nvSpPr>
        <p:spPr>
          <a:xfrm rot="0" flipH="0" flipV="0">
            <a:off x="1206500" y="2946400"/>
            <a:ext cx="2755900" cy="419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严格校验两次新密码输入是否一致，且新密码长度不得少于 8 位。</a:t>
            </a:r>
            <a:endParaRPr/>
          </a:p>
        </p:txBody>
      </p:sp>
      <p:sp>
        <p:nvSpPr>
          <p:cNvPr id="146" name="AutoShape 14"/>
          <p:cNvSpPr txBox="1"/>
          <p:nvPr/>
        </p:nvSpPr>
        <p:spPr>
          <a:xfrm rot="0" flipH="0" flipV="0">
            <a:off x="1206500" y="358775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错误提示反馈</a:t>
            </a:r>
            <a:endParaRPr/>
          </a:p>
        </p:txBody>
      </p:sp>
      <p:sp>
        <p:nvSpPr>
          <p:cNvPr id="147" name="AutoShape 15"/>
          <p:cNvSpPr txBox="1"/>
          <p:nvPr/>
        </p:nvSpPr>
        <p:spPr>
          <a:xfrm rot="0" flipH="0" flipV="0">
            <a:off x="1206500" y="4064000"/>
            <a:ext cx="2755900" cy="4191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用户只要填错信息，页面上立刻弹出红色错误提示（如“价格必须大于0”），提升用户体验。</a:t>
            </a:r>
            <a:endParaRPr/>
          </a:p>
        </p:txBody>
      </p:sp>
      <p:pic>
        <p:nvPicPr>
          <p:cNvPr id="148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572000" y="613046"/>
            <a:ext cx="2279064" cy="2501358"/>
          </a:xfrm>
          <a:prstGeom prst="rect"/>
        </p:spPr>
      </p:pic>
      <p:pic>
        <p:nvPicPr>
          <p:cNvPr id="149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381500" y="3155950"/>
            <a:ext cx="4511719" cy="1982285"/>
          </a:xfrm>
          <a:prstGeom prst="rect"/>
        </p:spPr>
      </p:pic>
      <p:sp>
        <p:nvSpPr>
          <p:cNvPr id="150" name=""/>
          <p:cNvSpPr txBox="1"/>
          <p:nvPr/>
        </p:nvSpPr>
        <p:spPr>
          <a:xfrm rot="0" flipH="0" flipV="0">
            <a:off x="-88669" y="1447800"/>
            <a:ext cx="952500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陈泽英</a:t>
            </a:r>
            <a:endParaRPr/>
          </a:p>
        </p:txBody>
      </p:sp>
      <p:sp>
        <p:nvSpPr>
          <p:cNvPr id="155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</a:t>
            </a:r>
            <a:endParaRPr lang="en-US" sz="1100"/>
          </a:p>
        </p:txBody>
      </p:sp>
      <p:sp>
        <p:nvSpPr>
          <p:cNvPr id="156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前端卖家后台</a:t>
            </a:r>
            <a:endParaRPr lang="en-US" sz="1100"/>
          </a:p>
        </p:txBody>
      </p:sp>
      <p:sp>
        <p:nvSpPr>
          <p:cNvPr id="157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000" b="1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前后端联调与数据展示</a:t>
            </a:r>
            <a:endParaRPr/>
          </a:p>
        </p:txBody>
      </p:sp>
      <p:cxnSp>
        <p:nvCxnSpPr>
          <p:cNvPr id="158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AutoShape 10"/>
          <p:cNvSpPr txBox="1"/>
          <p:nvPr/>
        </p:nvSpPr>
        <p:spPr>
          <a:xfrm rot="0" flipH="0" flipV="0">
            <a:off x="1206500" y="1333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解决传参报错</a:t>
            </a:r>
            <a:endParaRPr/>
          </a:p>
        </p:txBody>
      </p:sp>
      <p:sp>
        <p:nvSpPr>
          <p:cNvPr id="160" name="AutoShape 11"/>
          <p:cNvSpPr txBox="1"/>
          <p:nvPr/>
        </p:nvSpPr>
        <p:spPr>
          <a:xfrm rot="0" flipH="0" flipV="0">
            <a:off x="1206500" y="1682750"/>
            <a:ext cx="27559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在联调时排查并解决了一个前端报错（传参数</a:t>
            </a:r>
            <a:r>
              <a:rPr lang="zh-CN"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传错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），成功让页面拿到了真实的商品 ID。</a:t>
            </a:r>
            <a:endParaRPr/>
          </a:p>
        </p:txBody>
      </p:sp>
      <p:sp>
        <p:nvSpPr>
          <p:cNvPr id="161" name="AutoShape 12"/>
          <p:cNvSpPr txBox="1"/>
          <p:nvPr/>
        </p:nvSpPr>
        <p:spPr>
          <a:xfrm rot="0" flipH="0" flipV="0">
            <a:off x="1206500" y="2403475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数据对齐</a:t>
            </a:r>
            <a:endParaRPr/>
          </a:p>
        </p:txBody>
      </p:sp>
      <p:sp>
        <p:nvSpPr>
          <p:cNvPr id="162" name="AutoShape 13"/>
          <p:cNvSpPr txBox="1"/>
          <p:nvPr/>
        </p:nvSpPr>
        <p:spPr>
          <a:xfrm rot="0" flipH="0" flipV="0">
            <a:off x="1206500" y="2825750"/>
            <a:ext cx="27559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把后端传来的复杂数据，正确解析并渲染到了前端表格里。</a:t>
            </a:r>
            <a:endParaRPr/>
          </a:p>
        </p:txBody>
      </p:sp>
      <p:sp>
        <p:nvSpPr>
          <p:cNvPr id="163" name="AutoShape 14"/>
          <p:cNvSpPr txBox="1"/>
          <p:nvPr/>
        </p:nvSpPr>
        <p:spPr>
          <a:xfrm rot="0" flipH="0" flipV="0">
            <a:off x="1206500" y="3438525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sz="14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时间格式美化</a:t>
            </a:r>
            <a:endParaRPr/>
          </a:p>
        </p:txBody>
      </p:sp>
      <p:sp>
        <p:nvSpPr>
          <p:cNvPr id="164" name="AutoShape 15"/>
          <p:cNvSpPr txBox="1"/>
          <p:nvPr/>
        </p:nvSpPr>
        <p:spPr>
          <a:xfrm rot="0" flipH="0" flipV="0">
            <a:off x="1206500" y="3860800"/>
            <a:ext cx="2755900" cy="75992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后端传过来的时间格式</a:t>
            </a:r>
            <a:r>
              <a:rPr lang="zh-CN"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不是整洁的时间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（像 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EBEEF2">
                    <a:alpha val="100000"/>
                  </a:srgbClr>
                </a:highlight>
                <a:latin typeface="Menlo"/>
                <a:ea typeface="Menlo"/>
                <a:cs typeface="Arial"/>
                <a:sym typeface="Arial"/>
              </a:rPr>
              <a:t>2026-10-21T15:07:03</a:t>
            </a:r>
            <a:r>
              <a:rPr sz="1050">
                <a:solidFill>
                  <a:srgbClr val="0F1115">
                    <a:alpha val="100000"/>
                  </a:srgbClr>
                </a:solidFill>
                <a:highlight>
                  <a:srgbClr val="FFFFFF">
                    <a:alpha val="100000"/>
                  </a:srgbClr>
                </a:highlight>
                <a:latin typeface="quote-cjk-patch"/>
                <a:ea typeface="quote-cjk-patch"/>
                <a:cs typeface="Arial"/>
                <a:sym typeface="Arial"/>
              </a:rPr>
              <a:t>），前端把它截取并变成了整洁的“年-月-日 时:分:秒”。</a:t>
            </a:r>
            <a:endParaRPr/>
          </a:p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381500" y="965200"/>
            <a:ext cx="4109128" cy="2057572"/>
          </a:xfrm>
          <a:prstGeom prst="rect"/>
        </p:spPr>
      </p:pic>
      <p:pic>
        <p:nvPicPr>
          <p:cNvPr id="166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305069" y="3443288"/>
            <a:ext cx="4371604" cy="835025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endParaRPr/>
          </a:p>
        </p:txBody>
      </p:sp>
      <p:sp>
        <p:nvSpPr>
          <p:cNvPr id="171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</a:t>
            </a:r>
            <a:endParaRPr lang="en-US" sz="1100"/>
          </a:p>
        </p:txBody>
      </p:sp>
      <p:sp>
        <p:nvSpPr>
          <p:cNvPr id="172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+ 数据库</a:t>
            </a:r>
            <a:endParaRPr lang="en-US" sz="1100"/>
          </a:p>
        </p:txBody>
      </p:sp>
      <p:sp>
        <p:nvSpPr>
          <p:cNvPr id="173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讲述大纲</a:t>
            </a:r>
            <a:endParaRPr lang="en-US" sz="1100"/>
          </a:p>
        </p:txBody>
      </p:sp>
      <p:cxnSp>
        <p:nvCxnSpPr>
          <p:cNvPr id="174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AutoShape 10"/>
          <p:cNvSpPr txBox="1"/>
          <p:nvPr/>
        </p:nvSpPr>
        <p:spPr>
          <a:xfrm rot="0" flipH="0" flipV="0">
            <a:off x="1206500" y="13335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1. 数据库表设计</a:t>
            </a:r>
            <a:endParaRPr lang="en-US" sz="1100"/>
          </a:p>
        </p:txBody>
      </p:sp>
      <p:sp>
        <p:nvSpPr>
          <p:cNvPr id="176" name="AutoShape 11"/>
          <p:cNvSpPr txBox="1"/>
          <p:nvPr/>
        </p:nvSpPr>
        <p:spPr>
          <a:xfrm rot="0" flipH="0" flipV="0">
            <a:off x="1371600" y="168275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数据库共 3 张表：`seller` （卖家）、`product` （商品）、`intent` （购买意向），MySQL 8.x，InnoDB + utf8mb4。</a:t>
            </a:r>
            <a:endParaRPr/>
          </a:p>
        </p:txBody>
      </p:sp>
      <p:sp>
        <p:nvSpPr>
          <p:cNvPr id="177" name="AutoShape 12"/>
          <p:cNvSpPr txBox="1"/>
          <p:nvPr/>
        </p:nvSpPr>
        <p:spPr>
          <a:xfrm rot="0" flipH="0" flipV="0">
            <a:off x="1206500" y="2159000"/>
            <a:ext cx="2921000" cy="254000"/>
          </a:xfrm>
          <a:prstGeom prst="rect">
            <a:avLst/>
          </a:prstGeom>
          <a:solidFill>
            <a:schemeClr val="bg1">
              <a:alpha val="100000"/>
            </a:schemeClr>
          </a:solidFill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2. 图片上传接口</a:t>
            </a:r>
            <a:endParaRPr lang="en-US" sz="1100"/>
          </a:p>
        </p:txBody>
      </p:sp>
      <p:sp>
        <p:nvSpPr>
          <p:cNvPr id="178" name="AutoShape 13"/>
          <p:cNvSpPr txBox="1"/>
          <p:nvPr/>
        </p:nvSpPr>
        <p:spPr>
          <a:xfrm rot="0" flipH="0" flipV="0">
            <a:off x="1250950" y="3587750"/>
            <a:ext cx="325755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`POST /api/upload/image` ，multipart/form-data，字段名`file` ，需卖家登录（Bearer Token）。
- 校验 ：仅允许 jpg / jpeg / png / webp，单张 ≤ 5MB，非法类型/超限返回业务错误码；
- 存储 ：文件重命名为 UUID（防重名、防路径注入），保存到可配置目录（`app.upload-dir` ），通过静态资源映射`/uploads/**` 对外提供访问；
- 返回 ：`{"code":0, "message":"ok", "data":{"url":"/uploads/xxx.png"}}` ，前端拼后端域名即可展示；
- 排障实战 ：联调中发现"上传报保存失败 + 图片 404"两个 bug——定位到静态资源映射路径缺结尾`/` 导致全部 404，以及安全软件拦截后端写项目目录；修复后上传→访问→发布→买家端展示全链路实测通过。</a:t>
            </a:r>
            <a:endParaRPr/>
          </a:p>
        </p:txBody>
      </p:sp>
      <p:sp>
        <p:nvSpPr>
          <p:cNvPr id="179" name="AutoShape 19"/>
          <p:cNvSpPr txBox="1"/>
          <p:nvPr/>
        </p:nvSpPr>
        <p:spPr>
          <a:xfrm rot="0" flipH="0" flipV="0">
            <a:off x="4572000" y="1168400"/>
            <a:ext cx="4064000" cy="171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单活跃商品约束（product 表） — 摘自 shop_schema.sql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active_flag TINYINT GENERATED ALWAYS AS
    (CASE WHEN status IN (0,1,2) THEN 1 ELSE NULL END) STORED
    COMMENT '未下架标记，配合唯一索引实现单活跃商品约束',
UNIQUE KEY uk_product_active (active_flag)</a:t>
            </a:r>
            <a:endParaRPr/>
          </a:p>
        </p:txBody>
      </p:sp>
      <p:sp>
        <p:nvSpPr>
          <p:cNvPr id="180" name=""/>
          <p:cNvSpPr txBox="1"/>
          <p:nvPr/>
        </p:nvSpPr>
        <p:spPr>
          <a:xfrm rot="0" flipH="0" flipV="0">
            <a:off x="4508500" y="2705100"/>
            <a:ext cx="4552950" cy="24384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卖家表（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seller 表）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摘自 shop_schema.sql </a:t>
            </a:r>
            <a:endParaRPr/>
          </a:p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CREATE TABLE IF NOT EXISTS seller (
    id            BIGINT       NOT NULL AUTO_INCREMENT,
    username      VARCHAR(50)  NOT NULL COMMENT '登录用户名（固定单账号）',
    password_hash VARCHAR(100) NOT NULL COMMENT 'BCrypt 加密密码',
    created_at    DATETIME(3)  NOT NULL DEFAULT CURRENT_TIMESTAMP(3),
    updated_at    DATETIME(3)  NOT NULL DEFAULT CURRENT_TIMESTAMP(3) ON UPDATE CURRENT_TIMESTAMP(3),
    PRIMARY KEY (id),
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   UNIQUE KEY uk_seller_username (username)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
) ENGINE=InnoDB DEFAULT CHARSET=utf8mb4 COMMENT='卖家表';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endParaRPr/>
          </a:p>
        </p:txBody>
      </p:sp>
      <p:sp>
        <p:nvSpPr>
          <p:cNvPr id="185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</a:t>
            </a:r>
            <a:endParaRPr lang="en-US" sz="1100"/>
          </a:p>
        </p:txBody>
      </p:sp>
      <p:sp>
        <p:nvSpPr>
          <p:cNvPr id="186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+ 数据库</a:t>
            </a:r>
            <a:endParaRPr lang="en-US" sz="1100"/>
          </a:p>
        </p:txBody>
      </p:sp>
      <p:sp>
        <p:nvSpPr>
          <p:cNvPr id="187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讲述大纲</a:t>
            </a:r>
            <a:endParaRPr lang="en-US" sz="1100"/>
          </a:p>
        </p:txBody>
      </p:sp>
      <p:cxnSp>
        <p:nvCxnSpPr>
          <p:cNvPr id="188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AutoShape 18"/>
          <p:cNvSpPr/>
          <p:nvPr/>
        </p:nvSpPr>
        <p:spPr>
          <a:xfrm rot="0" flipH="0" flipV="0">
            <a:off x="1375833" y="2290233"/>
            <a:ext cx="7471832" cy="1714500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CREATE TABLE IF NOT EXISTS intent (
    id         BIGINT      NOT NULL AUTO_INCREMENT,
    product_id BIGINT      NOT NULL COMMENT '所属商品ID',
    code_hash  CHAR(64)    NOT NULL COMMENT '口令码 SHA-256 哈希（不存明文）',
    name       VARCHAR(50) NOT NULL,
    phone      VARCHAR(20) NOT NULL,
    status     TINYINT     NOT NULL DEFAULT 0 COMMENT '0排队中 1交易中 2成功 3作废 4撤销 5重排 6最终失败',
    queued_at  DATETIME(3) NOT NULL COMMENT '排队时间，先到先得排序依据',
    fail_count INT         NOT NULL DEFAULT 0,
    PRIMARY KEY (id),
    UNIQUE KEY uk_intent_code (code_hash),
    KEY idx_intent_queue (product_id, status, queued_at)
) ENGINE=InnoDB DEFAULT CHARSET=utf8mb4;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`口令码只存 SHA-256 哈希，明文不落库` 、`queued_at 毫秒精度，先到先得排序依据` 、`idx_intent_queue 联合索引覆盖队首查询` 。</a:t>
            </a:r>
            <a:endParaRPr/>
          </a:p>
        </p:txBody>
      </p:sp>
      <p:sp>
        <p:nvSpPr>
          <p:cNvPr id="190" name=""/>
          <p:cNvSpPr txBox="1"/>
          <p:nvPr/>
        </p:nvSpPr>
        <p:spPr>
          <a:xfrm rot="0" flipH="0" flipV="0">
            <a:off x="1375833" y="1581150"/>
            <a:ext cx="5276850" cy="2603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意向表（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intent表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（口令码哈希 + 队列索引）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摘自 shop_schema.sql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endParaRPr/>
          </a:p>
        </p:txBody>
      </p:sp>
      <p:sp>
        <p:nvSpPr>
          <p:cNvPr id="195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</a:t>
            </a:r>
            <a:endParaRPr lang="en-US" sz="1100"/>
          </a:p>
        </p:txBody>
      </p:sp>
      <p:sp>
        <p:nvSpPr>
          <p:cNvPr id="196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+ 数据库</a:t>
            </a:r>
            <a:endParaRPr lang="en-US" sz="1100"/>
          </a:p>
        </p:txBody>
      </p:sp>
      <p:sp>
        <p:nvSpPr>
          <p:cNvPr id="197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讲述大纲</a:t>
            </a:r>
            <a:endParaRPr lang="en-US" sz="1100"/>
          </a:p>
        </p:txBody>
      </p:sp>
      <p:cxnSp>
        <p:nvCxnSpPr>
          <p:cNvPr id="198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AutoShape 18"/>
          <p:cNvSpPr/>
          <p:nvPr/>
        </p:nvSpPr>
        <p:spPr>
          <a:xfrm rot="0" flipH="0" flipV="0">
            <a:off x="1397000" y="1905000"/>
            <a:ext cx="7556497" cy="1686983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public CommonDtos.UploadResponse upload(MultipartFile file) {
    if (file == null || file.isEmpty())
        throw new BizException(ErrorCode.PARAM_ERROR.getCode(), "请选择要上传的图片");
    if (file.getSize() &gt; MAX_SIZE)   // 5MB
        throw new BizException(ErrorCode.PARAM_ERROR.getCode(), "图片大小不能超过 5MB");
    String ext = original.substring(original.lastIndexOf('.') + 1).toLowerCase();
    if (!ALLOWED.contains(ext))      // jpg / jpeg / png
        throw new BizException(ErrorCode.PARAM_ERROR.getCode(), "仅支持 JPG/PNG 格式图片");
    Files.createDirectories(uploadDir);
    String filename = UUID.randomUUID().toString().replace("-", "") + "." + ext;
    try (InputStream in = file.getInputStream()) {
        Files.copy(in, uploadDir.resolve(filename), StandardCopyOption.REPLACE_EXISTING);
    }
    return new CommonDtos.UploadResponse("/uploads/" + filename);  // 返回可访问 URL
}</a:t>
            </a:r>
            <a:endParaRPr/>
          </a:p>
        </p:txBody>
      </p:sp>
      <p:sp>
        <p:nvSpPr>
          <p:cNvPr id="200" name=""/>
          <p:cNvSpPr txBox="1"/>
          <p:nvPr/>
        </p:nvSpPr>
        <p:spPr>
          <a:xfrm rot="0" flipH="0" flipV="0">
            <a:off x="1397000" y="1231900"/>
            <a:ext cx="3175000" cy="2603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图片上传接口 — 摘自 UploadService.java</a:t>
            </a:r>
            <a:endParaRPr/>
          </a:p>
        </p:txBody>
      </p:sp>
      <p:sp>
        <p:nvSpPr>
          <p:cNvPr id="201" name=""/>
          <p:cNvSpPr txBox="1"/>
          <p:nvPr/>
        </p:nvSpPr>
        <p:spPr>
          <a:xfrm rot="0" flipH="0" flipV="0">
            <a:off x="1397000" y="4067528"/>
            <a:ext cx="7556500" cy="7620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配套静态资源映射 WebConfig.java ：</a:t>
            </a:r>
            <a:endParaRPr/>
          </a:p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String location = Paths.get(uploadDir).toAbsolutePath().normalize().toUri().toString();
if (!location.endsWith("/")) location += "/";   // 关键：缺 "/" 会导致 /uploads/** 全部 404
registry.addResourceHandler("/uploads/**").addResourceLocations(location);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endParaRPr/>
          </a:p>
        </p:txBody>
      </p:sp>
      <p:sp>
        <p:nvSpPr>
          <p:cNvPr id="206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</a:t>
            </a:r>
            <a:endParaRPr lang="en-US" sz="1100"/>
          </a:p>
        </p:txBody>
      </p:sp>
      <p:sp>
        <p:nvSpPr>
          <p:cNvPr id="207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+ 数据库</a:t>
            </a:r>
            <a:endParaRPr lang="en-US" sz="1100"/>
          </a:p>
        </p:txBody>
      </p:sp>
      <p:sp>
        <p:nvSpPr>
          <p:cNvPr id="208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讲述大纲</a:t>
            </a:r>
            <a:endParaRPr lang="en-US" sz="1100"/>
          </a:p>
        </p:txBody>
      </p:sp>
      <p:cxnSp>
        <p:nvCxnSpPr>
          <p:cNvPr id="209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AutoShape 14"/>
          <p:cNvSpPr txBox="1"/>
          <p:nvPr/>
        </p:nvSpPr>
        <p:spPr>
          <a:xfrm rot="0" flipH="0" flipV="0">
            <a:off x="1206500" y="139700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3. SQL 与接口实现</a:t>
            </a:r>
            <a:endParaRPr lang="en-US" sz="1100"/>
          </a:p>
        </p:txBody>
      </p:sp>
      <p:sp>
        <p:nvSpPr>
          <p:cNvPr id="211" name="AutoShape 15"/>
          <p:cNvSpPr txBox="1"/>
          <p:nvPr/>
        </p:nvSpPr>
        <p:spPr>
          <a:xfrm rot="0" flipH="0" flipV="0">
            <a:off x="1257314" y="2857500"/>
            <a:ext cx="2755900" cy="228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交付独立可执行的数据库脚本与配套接口。
- SQL 脚本 ：`shop_schema.sql` ——三表 DDL + 默认卖家种子数据，幂等（`IF NOT EXISTS` +`INSERT IGNORE` ），可手动执行也可由应用启动自动建表；
- 意向接口 ：提交（发口令码、算位次）、查询（口令码查状态/位次/商品名/价格）、修改、撤销，状态机驱动，作废自动递补下一位；
- 卖家接口 ：登录发 JWT、发布商品、开始交易、确认成交/失败、历史查询；
- 统一响应 ：`{code, message, data}` ，业务错误也返回 HTTP 200，前端只看 code；错误码如 40904 重复提交、40908/40909 冻结保护、40905 口令码失效。</a:t>
            </a:r>
            <a:endParaRPr/>
          </a:p>
        </p:txBody>
      </p:sp>
      <p:sp>
        <p:nvSpPr>
          <p:cNvPr id="212" name="AutoShape 18"/>
          <p:cNvSpPr/>
          <p:nvPr/>
        </p:nvSpPr>
        <p:spPr>
          <a:xfrm rot="0" flipH="0" flipV="0">
            <a:off x="8572500" y="825500"/>
            <a:ext cx="0" cy="279400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" name="AutoShape 20"/>
          <p:cNvSpPr/>
          <p:nvPr/>
        </p:nvSpPr>
        <p:spPr>
          <a:xfrm rot="0" flipH="0" flipV="0">
            <a:off x="4508500" y="1181100"/>
            <a:ext cx="4064000" cy="3263900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" name="AutoShape 21"/>
          <p:cNvSpPr txBox="1"/>
          <p:nvPr/>
        </p:nvSpPr>
        <p:spPr>
          <a:xfrm rot="0" flipH="0" flipV="0">
            <a:off x="4013214" y="1905000"/>
            <a:ext cx="5130786" cy="171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@Transactional
public BuyerDtos.SubmitIntentResponse submit(BuyerDtos.SubmitIntentRequest req) {
    Product p = productMapper.selectActiveForUpdate();        // SELECT ... FOR UPDATE 行锁
    if (p == null) throw new BizException(ErrorCode.NOT_FOUND.getCode(), "暂无在售商品");
    if (p.getStatus() != ProductStatus.ON_SALE.getCode())
        throw new BizException(ErrorCode.PRODUCT_FROZEN.getCode(), "商品已冻结/交易中，无法提交意向");
    if (intentMapper.countActiveByPhone(p.getId(), req.phone().trim()) &gt; 0)
        throw new BizException(ErrorCode.DUPLICATE_INTENT);   // 同手机号防重复提交
    String code = generateCode();                             // 12 位口令码，明文只返回这一次
    Intent it = new Intent();
    it.setCodeHash(sha256(code));                             // 库中只存 SHA-256 哈希  it.setQueuedAt(LocalDateTime.now().truncatedTo(ChronoUnit.MILLIS));
    intentMapper.insert(it);
    int position = intentMapper.calcQueuePosition(p.getId(), it.getQueuedAt(), it.getId());
    return new BuyerDtos.SubmitIntentResponse(code, toIntentView(it, position));
}</a:t>
            </a:r>
            <a:endParaRPr/>
          </a:p>
        </p:txBody>
      </p:sp>
      <p:sp>
        <p:nvSpPr>
          <p:cNvPr id="215" name=""/>
          <p:cNvSpPr txBox="1"/>
          <p:nvPr/>
        </p:nvSpPr>
        <p:spPr>
          <a:xfrm rot="0">
            <a:off x="1107722" y="4649611"/>
            <a:ext cx="2851150" cy="425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SQL 与接口实现 — 意向提交（悲观锁 + 查重 + 算位次）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摘自 BuyerService.java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8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9" name="AutoShape 4"/>
          <p:cNvSpPr txBox="1"/>
          <p:nvPr/>
        </p:nvSpPr>
        <p:spPr>
          <a:xfrm rot="0" flipH="0" flipV="0">
            <a:off x="0" y="1397000"/>
            <a:ext cx="9525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4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李炫苇</a:t>
            </a:r>
            <a:endParaRPr/>
          </a:p>
        </p:txBody>
      </p:sp>
      <p:sp>
        <p:nvSpPr>
          <p:cNvPr id="220" name="AutoShape 5"/>
          <p:cNvSpPr txBox="1"/>
          <p:nvPr/>
        </p:nvSpPr>
        <p:spPr>
          <a:xfrm rot="0" flipH="0" flipV="0">
            <a:off x="0" y="19050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</a:t>
            </a:r>
            <a:endParaRPr lang="en-US" sz="1100"/>
          </a:p>
        </p:txBody>
      </p:sp>
      <p:sp>
        <p:nvSpPr>
          <p:cNvPr id="221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+ 数据库</a:t>
            </a:r>
            <a:endParaRPr lang="en-US" sz="1100"/>
          </a:p>
        </p:txBody>
      </p:sp>
      <p:sp>
        <p:nvSpPr>
          <p:cNvPr id="222" name="AutoShape 8"/>
          <p:cNvSpPr txBox="1"/>
          <p:nvPr/>
        </p:nvSpPr>
        <p:spPr>
          <a:xfrm rot="0" flipH="0" flipV="0">
            <a:off x="1206500" y="825500"/>
            <a:ext cx="28575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讲述大纲</a:t>
            </a:r>
            <a:endParaRPr lang="en-US" sz="1100"/>
          </a:p>
        </p:txBody>
      </p:sp>
      <p:cxnSp>
        <p:nvCxnSpPr>
          <p:cNvPr id="223" name="Connector 9"/>
          <p:cNvCxnSpPr/>
          <p:nvPr/>
        </p:nvCxnSpPr>
        <p:spPr>
          <a:xfrm rot="-15278" flipH="0" flipV="0">
            <a:off x="1206514" y="11620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AutoShape 16"/>
          <p:cNvSpPr txBox="1"/>
          <p:nvPr/>
        </p:nvSpPr>
        <p:spPr>
          <a:xfrm rot="0" flipH="0" flipV="0">
            <a:off x="1206500" y="1619250"/>
            <a:ext cx="2921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4. API 联调</a:t>
            </a:r>
            <a:endParaRPr lang="en-US" sz="1100"/>
          </a:p>
        </p:txBody>
      </p:sp>
      <p:sp>
        <p:nvSpPr>
          <p:cNvPr id="225" name="AutoShape 17"/>
          <p:cNvSpPr txBox="1"/>
          <p:nvPr/>
        </p:nvSpPr>
        <p:spPr>
          <a:xfrm rot="0" flipH="0" flipV="0">
            <a:off x="1352550" y="3180773"/>
            <a:ext cx="27559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82828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编写 PowerShell 冒烟测试脚本（32 项断言），与 A、B、C 三部分真实联调。
覆盖完整业务链：登录 → 发布商品 → 3 买家排队（位次1/2/3）→ 口令码查询 → 重复提交拦截 → 开始交易 → 交易中禁止解冻/下架 → 失败作废自动递补 → 成交下架 → 历史可查 → 口令码失效。 实测环境 JDK + MySQL 8.4.7，32/32 全部通过 。
联调中推动解决了 3 个跨端问题：图片裂图（后端 2 个 bug）、意向详情缺商品名称/价格字段（补`productName` /`productPrice` /`createdAt` ）、前端`status` 映射不全（改用`statusText` ）。</a:t>
            </a:r>
            <a:endParaRPr/>
          </a:p>
        </p:txBody>
      </p:sp>
      <p:sp>
        <p:nvSpPr>
          <p:cNvPr id="226" name="AutoShape 19"/>
          <p:cNvSpPr txBox="1"/>
          <p:nvPr/>
        </p:nvSpPr>
        <p:spPr>
          <a:xfrm rot="0" flipH="0" flipV="0">
            <a:off x="3556000" y="984250"/>
            <a:ext cx="4064000" cy="9207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摘自 api-smoke-test.ps1</a:t>
            </a:r>
            <a:endParaRPr/>
          </a:p>
        </p:txBody>
      </p:sp>
      <p:sp>
        <p:nvSpPr>
          <p:cNvPr id="227" name="AutoShape 21"/>
          <p:cNvSpPr txBox="1"/>
          <p:nvPr/>
        </p:nvSpPr>
        <p:spPr>
          <a:xfrm rot="0" flipH="0" flipV="0">
            <a:off x="4699000" y="2600615"/>
            <a:ext cx="4064000" cy="1414317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 Step 6: 3 buyers submit intents, verify FIFO positions 1/2/3
Check "Buyer1 position = 1" ($b1.data.intent.queuePosition -eq 1)
Check "Buyer2 position = 2" ($b2.data.intent.queuePosition -eq 2)
# Step 7: duplicate phone rejected
Check "Duplicate submit -&gt; 40904" ($dup.code -eq 40904)
# Step 9: trading freeze protection
Check "Freeze during trading -&gt; 40908" ($frz.code -eq 40908)
Check "Off-shelf during trading -&gt; 40909" ($off.code -eq 40909)
# Step 10: confirm-failed -&gt; VOID, next buyer auto-promoted, product stays 2
Check "Next intent promoted to TRADING(1)" ($q2.data.intentStatus -eq 1)
# RESULT: 32 passed / 0 failed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" name="AutoShape 4"/>
          <p:cNvSpPr txBox="1"/>
          <p:nvPr/>
        </p:nvSpPr>
        <p:spPr>
          <a:xfrm rot="0" flipH="0" flipV="0">
            <a:off x="0" y="1397000"/>
            <a:ext cx="990600" cy="50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胡芷源</a:t>
            </a:r>
            <a:endParaRPr/>
          </a:p>
        </p:txBody>
      </p:sp>
      <p:sp>
        <p:nvSpPr>
          <p:cNvPr id="232" name="AutoShape 5"/>
          <p:cNvSpPr txBox="1"/>
          <p:nvPr/>
        </p:nvSpPr>
        <p:spPr>
          <a:xfrm rot="0" flipH="0" flipV="0">
            <a:off x="0" y="21209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组长</a:t>
            </a: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/>
          </a:p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测试部署</a:t>
            </a:r>
            <a:endParaRPr lang="en-US" sz="1100"/>
          </a:p>
        </p:txBody>
      </p:sp>
      <p:sp>
        <p:nvSpPr>
          <p:cNvPr id="233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 + 部署</a:t>
            </a:r>
            <a:endParaRPr lang="en-US" sz="1100"/>
          </a:p>
        </p:txBody>
      </p:sp>
      <p:sp>
        <p:nvSpPr>
          <p:cNvPr id="234" name="AutoShape 18"/>
          <p:cNvSpPr/>
          <p:nvPr/>
        </p:nvSpPr>
        <p:spPr>
          <a:xfrm rot="0" flipH="0" flipV="0">
            <a:off x="1143000" y="857250"/>
            <a:ext cx="3680889" cy="1714500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5" name="AutoShape 19"/>
          <p:cNvSpPr txBox="1"/>
          <p:nvPr/>
        </p:nvSpPr>
        <p:spPr>
          <a:xfrm rot="0" flipH="0" flipV="0">
            <a:off x="1266833" y="869950"/>
            <a:ext cx="3433223" cy="171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测试方法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：黑盒测试（基于业务流） + 接口测试（Postman 自动化脚本）。
</a:t>
            </a: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覆盖维度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：核心业务流程（Happy Path） + 异常边界（Unhappy Path）。
</a:t>
            </a: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成果产出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：在 Wiki 编写了 18 条完整测试用例（涵盖重复提交、冻结期购买、越权操作等）。</a:t>
            </a:r>
            <a:endParaRPr/>
          </a:p>
        </p:txBody>
      </p:sp>
      <p:sp>
        <p:nvSpPr>
          <p:cNvPr id="236" name="AutoShape 20"/>
          <p:cNvSpPr/>
          <p:nvPr/>
        </p:nvSpPr>
        <p:spPr>
          <a:xfrm rot="0" flipH="0" flipV="0">
            <a:off x="1143000" y="2857500"/>
            <a:ext cx="3680889" cy="2076985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7" name="AutoShape 19"/>
          <p:cNvSpPr txBox="1"/>
          <p:nvPr/>
        </p:nvSpPr>
        <p:spPr>
          <a:xfrm rot="0" flipH="0" flipV="0">
            <a:off x="1266833" y="3150135"/>
            <a:ext cx="3433223" cy="1784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缺陷追踪与 Bug 修复：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案例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：在联调时，测试出“卖家登录报错 token is null”以及“商品图片渲染为纯文本”。
</a:t>
            </a: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处理流程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：在 GitHub 提交 Issue 指派给对应开发 -&gt; 协助排查原因（前端标签语法错误） -&gt; 修复并复测通过 -&gt; 关闭 Issue。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8" name="AutoShape 18"/>
          <p:cNvSpPr/>
          <p:nvPr/>
        </p:nvSpPr>
        <p:spPr>
          <a:xfrm rot="0" flipH="0" flipV="0">
            <a:off x="5078376" y="869950"/>
            <a:ext cx="3811624" cy="2117993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" name="AutoShape 19"/>
          <p:cNvSpPr txBox="1"/>
          <p:nvPr/>
        </p:nvSpPr>
        <p:spPr>
          <a:xfrm rot="0" flipH="0" flipV="0">
            <a:off x="5265452" y="1071696"/>
            <a:ext cx="3433223" cy="171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部署方案与 Docker 容器化：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本地环境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：JDK 17 + MySQL 8.0 + Node.js。
</a:t>
            </a: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容器化配置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写了完整的 Dockerfile 与 docker-compose.yml，实现前后端与数据库的一键构建。
</a:t>
            </a: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自动化脚本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：后端提供的 api-smoke-test.ps1 实现了 32 项接口冒烟测试（附上全绿截图）。</a:t>
            </a:r>
            <a:endParaRPr/>
          </a:p>
        </p:txBody>
      </p:sp>
      <p:sp>
        <p:nvSpPr>
          <p:cNvPr id="240" name="AutoShape 20"/>
          <p:cNvSpPr/>
          <p:nvPr/>
        </p:nvSpPr>
        <p:spPr>
          <a:xfrm rot="0" flipH="0" flipV="0">
            <a:off x="5076238" y="3286393"/>
            <a:ext cx="3811651" cy="1511834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1" name="AutoShape 19"/>
          <p:cNvSpPr txBox="1"/>
          <p:nvPr/>
        </p:nvSpPr>
        <p:spPr>
          <a:xfrm rot="0" flipH="0" flipV="0">
            <a:off x="5267577" y="3359150"/>
            <a:ext cx="3433223" cy="17843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迭代验收标准：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核心闭环跑通（发布-&gt;购买-&gt;交易-&gt;完成）。
异常状态成功拦截（商品冻结期间无法重复提交）。
前端无严重崩溃白屏，数据库数据正确落库。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6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p14">
  <p:cSld>
    <p:bg>
      <p:bgPr>
        <a:solidFill>
          <a:srgbClr val="FFFFFF">
            <a:alpha val="100000"/>
          </a:srgbClr>
        </a:solidFill>
      </p:bgPr>
    </p:bg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" name="AutoShape 3"/>
          <p:cNvSpPr/>
          <p:nvPr/>
        </p:nvSpPr>
        <p:spPr>
          <a:xfrm rot="0" flipH="0" flipV="0">
            <a:off x="0" y="571500"/>
            <a:ext cx="952500" cy="45720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5" name="AutoShape 4"/>
          <p:cNvSpPr txBox="1"/>
          <p:nvPr/>
        </p:nvSpPr>
        <p:spPr>
          <a:xfrm rot="0" flipH="0" flipV="0">
            <a:off x="0" y="1397000"/>
            <a:ext cx="990600" cy="50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800" b="1" i="0" u="none" strike="noStrike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胡芷源</a:t>
            </a:r>
            <a:endParaRPr/>
          </a:p>
        </p:txBody>
      </p:sp>
      <p:sp>
        <p:nvSpPr>
          <p:cNvPr id="246" name="AutoShape 5"/>
          <p:cNvSpPr txBox="1"/>
          <p:nvPr/>
        </p:nvSpPr>
        <p:spPr>
          <a:xfrm rot="0" flipH="0" flipV="0">
            <a:off x="0" y="2120900"/>
            <a:ext cx="9525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组长</a:t>
            </a: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/>
          </a:p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测试部署</a:t>
            </a:r>
            <a:endParaRPr lang="en-US" sz="1100"/>
          </a:p>
        </p:txBody>
      </p:sp>
      <p:sp>
        <p:nvSpPr>
          <p:cNvPr id="247" name="AutoShape 6"/>
          <p:cNvSpPr txBox="1"/>
          <p:nvPr/>
        </p:nvSpPr>
        <p:spPr>
          <a:xfrm rot="0" flipH="0" flipV="0">
            <a:off x="11430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 + 部署</a:t>
            </a:r>
            <a:endParaRPr lang="en-US" sz="1100"/>
          </a:p>
        </p:txBody>
      </p:sp>
      <p:sp>
        <p:nvSpPr>
          <p:cNvPr id="248" name="AutoShape 7"/>
          <p:cNvSpPr txBox="1"/>
          <p:nvPr/>
        </p:nvSpPr>
        <p:spPr>
          <a:xfrm rot="0" flipH="0" flipV="0">
            <a:off x="7620000" y="0"/>
            <a:ext cx="1143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分工汇报 · 02</a:t>
            </a:r>
            <a:endParaRPr lang="en-US" sz="1100"/>
          </a:p>
        </p:txBody>
      </p:sp>
      <p:sp>
        <p:nvSpPr>
          <p:cNvPr id="249" name="AutoShape 18"/>
          <p:cNvSpPr/>
          <p:nvPr/>
        </p:nvSpPr>
        <p:spPr>
          <a:xfrm rot="0" flipH="0" flipV="0">
            <a:off x="1158582" y="825584"/>
            <a:ext cx="3748611" cy="4051025"/>
          </a:xfrm>
          <a:prstGeom prst="roundRect">
            <a:avLst>
              <a:gd name="adj" fmla="val 2962"/>
            </a:avLst>
          </a:prstGeom>
          <a:solidFill>
            <a:srgbClr val="F8F9FB">
              <a:alpha val="100000"/>
            </a:srgbClr>
          </a:solidFill>
          <a:ln w="12700" cap="flat" cmpd="sng">
            <a:solidFill>
              <a:srgbClr val="B4BEC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0" name="AutoShape 19"/>
          <p:cNvSpPr txBox="1"/>
          <p:nvPr/>
        </p:nvSpPr>
        <p:spPr>
          <a:xfrm rot="0" flipH="0" flipV="0">
            <a:off x="1300693" y="1102546"/>
            <a:ext cx="3433223" cy="254470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项目难点与复盘：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100" b="1" i="0" u="none" strike="noStrike">
              <a:solidFill>
                <a:srgbClr val="969696">
                  <a:alpha val="10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难点 1（环境）：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 Java 27 与代码要求的 Java 17 冲突，通过配置局部 JAVA_HOME 解决。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br>
              <a:rPr/>
            </a:b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难点 2（协同）：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 分支合并冲突，漏传 package.json 导致前端跑不起来。通过强制拉取和补齐文件解决。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br>
              <a:rPr/>
            </a:br>
            <a:r>
              <a:rPr lang="zh-CN" sz="1100" b="1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难点 3（网络）</a:t>
            </a:r>
            <a:r>
              <a:rPr lang="zh-CN" sz="1100" b="0" i="0" u="none" strike="noStrike">
                <a:solidFill>
                  <a:srgbClr val="969696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：Docker Hub 国内网络受限，采用提供完整 Dockerfile 及 docker-compose 的方式供本地构建。</a:t>
            </a:r>
            <a:endParaRPr/>
          </a:p>
        </p:txBody>
      </p:sp>
      <p:sp>
        <p:nvSpPr>
          <p:cNvPr id="251" name="AutoShape 5"/>
          <p:cNvSpPr/>
          <p:nvPr/>
        </p:nvSpPr>
        <p:spPr>
          <a:xfrm rot="0" flipH="0" flipV="0">
            <a:off x="5113259" y="825584"/>
            <a:ext cx="3877591" cy="4063832"/>
          </a:xfrm>
          <a:prstGeom prst="roundRect">
            <a:avLst>
              <a:gd name="adj" fmla="val 8000"/>
            </a:avLst>
          </a:prstGeom>
          <a:solidFill>
            <a:srgbClr val="E6F0FA">
              <a:alpha val="100000"/>
            </a:srgbClr>
          </a:solidFill>
          <a:ln w="12700" cap="flat" cmpd="sng">
            <a:solidFill>
              <a:srgbClr val="13436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2" name="演示视频.mp4"/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0" flipH="0" flipV="0">
            <a:off x="5297022" y="1588443"/>
            <a:ext cx="3510065" cy="2983557"/>
          </a:xfrm>
          <a:prstGeom prst="rect"/>
        </p:spPr>
      </p:pic>
      <p:sp>
        <p:nvSpPr>
          <p:cNvPr id="253" name="AutoShape 23"/>
          <p:cNvSpPr txBox="1"/>
          <p:nvPr/>
        </p:nvSpPr>
        <p:spPr>
          <a:xfrm rot="0" flipH="0" flipV="0">
            <a:off x="5918655" y="4572000"/>
            <a:ext cx="762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完整录屏已上传至百度网盘及 Wiki</a:t>
            </a:r>
            <a:endParaRPr/>
          </a:p>
        </p:txBody>
      </p:sp>
      <p:sp>
        <p:nvSpPr>
          <p:cNvPr id="254" name="AutoShape 6"/>
          <p:cNvSpPr txBox="1"/>
          <p:nvPr/>
        </p:nvSpPr>
        <p:spPr>
          <a:xfrm rot="0" flipH="0" flipV="0">
            <a:off x="5297022" y="1003300"/>
            <a:ext cx="2486407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系统界面与核心功能演示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 flipH="0" flipV="0">
            <a:off x="1158582" y="3838025"/>
            <a:ext cx="3748610" cy="317223"/>
          </a:xfrm>
          <a:prstGeom prst="rect"/>
        </p:spPr>
      </p:pic>
      <p:pic>
        <p:nvPicPr>
          <p:cNvPr id="256" nam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 flipH="0" flipV="0">
            <a:off x="1143000" y="4178301"/>
            <a:ext cx="3779759" cy="358628"/>
          </a:xfrm>
          <a:prstGeom prst="rect"/>
        </p:spPr>
      </p:pic>
      <p:pic>
        <p:nvPicPr>
          <p:cNvPr id="257" name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 flipH="0" flipV="0">
            <a:off x="1158582" y="1953182"/>
            <a:ext cx="3748611" cy="421718"/>
          </a:xfrm>
          <a:prstGeom prst="rect"/>
        </p:spPr>
      </p:pic>
    </p:spTree>
  </p:cSld>
  <p:clrMapOvr>
    <a:masterClrMapping/>
  </p:clrMapOvr>
  <p:timing>
    <p:tnLst>
      <p:par>
        <p:cTn dur="indefinite" restart="never" nodeType="tmRoot">
          <p:childTnLst>
            <p:seq concurrent="1" nextAc="seek">
              <p:cTn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onEnd" delay="0">
                  <p:rtn val="all"/>
                </p:endSync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" dur="1" fill="hold"/>
                                        <p:tgtEl>
                                          <p:spTgt spid="2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" dur="145366.66700000002" fill="hold"/>
                                        <p:tgtEl>
                                          <p:spTgt spid="2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/>
            </p:seq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5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AutoShape 2"/>
          <p:cNvSpPr/>
          <p:nvPr/>
        </p:nvSpPr>
        <p:spPr>
          <a:xfrm rot="0" flipH="0" flipV="0">
            <a:off x="0" y="0"/>
            <a:ext cx="9144000" cy="571500"/>
          </a:xfrm>
          <a:prstGeom prst="roundRect">
            <a:avLst>
              <a:gd name="adj" fmla="val 0"/>
            </a:avLst>
          </a:prstGeom>
          <a:solidFill>
            <a:srgbClr val="1343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" name="AutoShape 3"/>
          <p:cNvSpPr txBox="1"/>
          <p:nvPr/>
        </p:nvSpPr>
        <p:spPr>
          <a:xfrm rot="0" flipH="0" flipV="0">
            <a:off x="571500" y="0"/>
            <a:ext cx="5715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协作与接口联调</a:t>
            </a:r>
            <a:endParaRPr lang="en-US" sz="1100"/>
          </a:p>
        </p:txBody>
      </p:sp>
      <p:sp>
        <p:nvSpPr>
          <p:cNvPr id="261" name="AutoShape 5"/>
          <p:cNvSpPr txBox="1"/>
          <p:nvPr/>
        </p:nvSpPr>
        <p:spPr>
          <a:xfrm rot="0" flipH="0" flipV="0">
            <a:off x="571500" y="825500"/>
            <a:ext cx="3556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接口约定</a:t>
            </a:r>
            <a:endParaRPr lang="en-US" sz="1100"/>
          </a:p>
        </p:txBody>
      </p:sp>
      <p:cxnSp>
        <p:nvCxnSpPr>
          <p:cNvPr id="262" name="Connector 6"/>
          <p:cNvCxnSpPr/>
          <p:nvPr/>
        </p:nvCxnSpPr>
        <p:spPr>
          <a:xfrm rot="-11653" flipH="0" flipV="0">
            <a:off x="571511" y="1162050"/>
            <a:ext cx="374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AutoShape 7"/>
          <p:cNvSpPr/>
          <p:nvPr/>
        </p:nvSpPr>
        <p:spPr>
          <a:xfrm rot="0" flipH="0" flipV="0">
            <a:off x="571500" y="1371600"/>
            <a:ext cx="3746500" cy="482600"/>
          </a:xfrm>
          <a:prstGeom prst="roundRect">
            <a:avLst>
              <a:gd name="adj" fmla="val 10526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" name="AutoShape 8"/>
          <p:cNvSpPr txBox="1"/>
          <p:nvPr/>
        </p:nvSpPr>
        <p:spPr>
          <a:xfrm rot="0" flipH="0" flipV="0">
            <a:off x="736600" y="1371600"/>
            <a:ext cx="34290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买家端 ←→ 商品接口 + 意向接口</a:t>
            </a:r>
            <a:endParaRPr/>
          </a:p>
        </p:txBody>
      </p:sp>
      <p:sp>
        <p:nvSpPr>
          <p:cNvPr id="265" name="AutoShape 9"/>
          <p:cNvSpPr/>
          <p:nvPr/>
        </p:nvSpPr>
        <p:spPr>
          <a:xfrm rot="0" flipH="0" flipV="0">
            <a:off x="571500" y="1981200"/>
            <a:ext cx="3746500" cy="482600"/>
          </a:xfrm>
          <a:prstGeom prst="roundRect">
            <a:avLst>
              <a:gd name="adj" fmla="val 10526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6" name="AutoShape 10"/>
          <p:cNvSpPr txBox="1"/>
          <p:nvPr/>
        </p:nvSpPr>
        <p:spPr>
          <a:xfrm rot="0" flipH="0" flipV="0">
            <a:off x="736600" y="1981200"/>
            <a:ext cx="34290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 ←→ 商品 + 卖家/意向接口</a:t>
            </a:r>
            <a:endParaRPr/>
          </a:p>
        </p:txBody>
      </p:sp>
      <p:sp>
        <p:nvSpPr>
          <p:cNvPr id="267" name="AutoShape 11"/>
          <p:cNvSpPr/>
          <p:nvPr/>
        </p:nvSpPr>
        <p:spPr>
          <a:xfrm rot="0" flipH="0" flipV="0">
            <a:off x="571500" y="2590800"/>
            <a:ext cx="3746500" cy="482600"/>
          </a:xfrm>
          <a:prstGeom prst="roundRect">
            <a:avLst>
              <a:gd name="adj" fmla="val 10526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" name="AutoShape 12"/>
          <p:cNvSpPr txBox="1"/>
          <p:nvPr/>
        </p:nvSpPr>
        <p:spPr>
          <a:xfrm rot="0" flipH="0" flipV="0">
            <a:off x="736600" y="2590800"/>
            <a:ext cx="34290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 ←→ 所有接口（Postman 集合）</a:t>
            </a:r>
            <a:endParaRPr/>
          </a:p>
        </p:txBody>
      </p:sp>
      <p:sp>
        <p:nvSpPr>
          <p:cNvPr id="269" name="AutoShape 13"/>
          <p:cNvSpPr txBox="1"/>
          <p:nvPr/>
        </p:nvSpPr>
        <p:spPr>
          <a:xfrm rot="0" flipH="0" flipV="0">
            <a:off x="4953000" y="825500"/>
            <a:ext cx="35560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联调进度</a:t>
            </a:r>
            <a:endParaRPr lang="en-US" sz="1100"/>
          </a:p>
        </p:txBody>
      </p:sp>
      <p:cxnSp>
        <p:nvCxnSpPr>
          <p:cNvPr id="270" name="Connector 14"/>
          <p:cNvCxnSpPr/>
          <p:nvPr/>
        </p:nvCxnSpPr>
        <p:spPr>
          <a:xfrm rot="-12062" flipH="0" flipV="0">
            <a:off x="4953011" y="1162050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AutoShape 15"/>
          <p:cNvSpPr txBox="1"/>
          <p:nvPr/>
        </p:nvSpPr>
        <p:spPr>
          <a:xfrm rot="0" flipH="0" flipV="0">
            <a:off x="4953000" y="1397000"/>
            <a:ext cx="254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endParaRPr lang="en-US" sz="1100"/>
          </a:p>
        </p:txBody>
      </p:sp>
      <p:sp>
        <p:nvSpPr>
          <p:cNvPr id="272" name="AutoShape 16"/>
          <p:cNvSpPr txBox="1"/>
          <p:nvPr/>
        </p:nvSpPr>
        <p:spPr>
          <a:xfrm rot="0" flipH="0" flipV="0">
            <a:off x="5232400" y="1397000"/>
            <a:ext cx="3302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商品列表 / 详情接口：已联调</a:t>
            </a:r>
            <a:endParaRPr lang="en-US" sz="1100"/>
          </a:p>
        </p:txBody>
      </p:sp>
      <p:sp>
        <p:nvSpPr>
          <p:cNvPr id="273" name="AutoShape 17"/>
          <p:cNvSpPr txBox="1"/>
          <p:nvPr/>
        </p:nvSpPr>
        <p:spPr>
          <a:xfrm rot="0" flipH="0" flipV="0">
            <a:off x="4953000" y="1841500"/>
            <a:ext cx="254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3436C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endParaRPr lang="en-US" sz="1100"/>
          </a:p>
        </p:txBody>
      </p:sp>
      <p:sp>
        <p:nvSpPr>
          <p:cNvPr id="274" name="AutoShape 18"/>
          <p:cNvSpPr txBox="1"/>
          <p:nvPr/>
        </p:nvSpPr>
        <p:spPr>
          <a:xfrm rot="0" flipH="0" flipV="0">
            <a:off x="5232400" y="1841500"/>
            <a:ext cx="3302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意向提交接口：已联调</a:t>
            </a:r>
            <a:endParaRPr lang="en-US" sz="1100"/>
          </a:p>
        </p:txBody>
      </p:sp>
      <p:sp>
        <p:nvSpPr>
          <p:cNvPr id="275" name="AutoShape 20"/>
          <p:cNvSpPr txBox="1"/>
          <p:nvPr/>
        </p:nvSpPr>
        <p:spPr>
          <a:xfrm rot="0" flipH="0" flipV="0">
            <a:off x="5232400" y="2286000"/>
            <a:ext cx="3302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商品冻结/恢复接口：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已联调</a:t>
            </a:r>
            <a:endParaRPr/>
          </a:p>
        </p:txBody>
      </p:sp>
      <p:sp>
        <p:nvSpPr>
          <p:cNvPr id="276" name="AutoShape 23"/>
          <p:cNvSpPr/>
          <p:nvPr/>
        </p:nvSpPr>
        <p:spPr>
          <a:xfrm rot="0" flipH="0" flipV="0">
            <a:off x="571500" y="3429000"/>
            <a:ext cx="8001000" cy="825500"/>
          </a:xfrm>
          <a:prstGeom prst="roundRect">
            <a:avLst>
              <a:gd name="adj" fmla="val 6153"/>
            </a:avLst>
          </a:prstGeom>
          <a:solidFill>
            <a:srgbClr val="F5F8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" name="AutoShape 24"/>
          <p:cNvSpPr txBox="1"/>
          <p:nvPr/>
        </p:nvSpPr>
        <p:spPr>
          <a:xfrm rot="0" flipH="0" flipV="0">
            <a:off x="762000" y="3429000"/>
            <a:ext cx="7620000" cy="825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0" i="0" u="none" strike="noStrike">
                <a:solidFill>
                  <a:srgbClr val="3C3C3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协作方式：统一接口文档（字段名 / 状态码 / 返回格式），</a:t>
            </a:r>
            <a:endParaRPr lang="en-US" sz="1100"/>
          </a:p>
          <a:p>
            <a:pPr marL="0" indent="0" algn="l">
              <a:lnSpc>
                <a:spcPct val="133333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100" b="0" i="0" u="none" strike="noStrike">
                <a:solidFill>
                  <a:srgbClr val="3C3C3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前后端并行开发，接口 Mock 先行，</a:t>
            </a:r>
            <a:r>
              <a:rPr lang="zh-CN" sz="1100" b="0" i="0" u="none" strike="noStrike">
                <a:solidFill>
                  <a:srgbClr val="3C3C3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后续可以</a:t>
            </a:r>
            <a:r>
              <a:rPr lang="en-US" sz="1100" b="0" i="0" u="none" strike="noStrike">
                <a:solidFill>
                  <a:srgbClr val="3C3C3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 Postman 回归测试。</a:t>
            </a:r>
            <a:endParaRPr/>
          </a:p>
        </p:txBody>
      </p:sp>
      <p:sp>
        <p:nvSpPr>
          <p:cNvPr id="278" name="AutoShape 20"/>
          <p:cNvSpPr txBox="1"/>
          <p:nvPr/>
        </p:nvSpPr>
        <p:spPr>
          <a:xfrm rot="0" flipH="0" flipV="0">
            <a:off x="5232400" y="2705100"/>
            <a:ext cx="3302000" cy="25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卖家登录</a:t>
            </a:r>
            <a:r>
              <a:rPr lang="en-US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sz="1100" b="0" i="0" u="none" strike="noStrike">
                <a:solidFill>
                  <a:srgbClr val="323232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改密码：已联调</a:t>
            </a:r>
            <a:endParaRPr/>
          </a:p>
        </p:txBody>
      </p:sp>
      <p:sp>
        <p:nvSpPr>
          <p:cNvPr id="279" name=""/>
          <p:cNvSpPr txBox="1"/>
          <p:nvPr/>
        </p:nvSpPr>
        <p:spPr>
          <a:xfrm rot="0" flipH="0" flipV="0">
            <a:off x="4873303" y="2273300"/>
            <a:ext cx="333697" cy="279400"/>
          </a:xfrm>
          <a:prstGeom prst="rect"/>
        </p:spPr>
        <p:txBody>
          <a:bodyPr>
            <a:spAutoFit/>
          </a:bodyPr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endParaRPr lang="en-US" sz="11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"/>
          <p:cNvSpPr txBox="1"/>
          <p:nvPr/>
        </p:nvSpPr>
        <p:spPr>
          <a:xfrm rot="0" flipH="0" flipV="0">
            <a:off x="4873308" y="2730500"/>
            <a:ext cx="333692" cy="279400"/>
          </a:xfrm>
          <a:prstGeom prst="rect"/>
        </p:spPr>
        <p:txBody>
          <a:bodyPr>
            <a:spAutoFit/>
          </a:bodyPr>
          <a:p>
            <a:pPr marL="0" lv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100" b="1" i="0" u="none" strike="noStrike">
                <a:solidFill>
                  <a:srgbClr val="13436C">
                    <a:alpha val="10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endParaRPr lang="en-US" sz="11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rgbClr val="13436C">
            <a:alpha val="100000"/>
          </a:srgbClr>
        </a:solidFill>
      </p:bgPr>
    </p:bg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Connector 2"/>
          <p:cNvCxnSpPr/>
          <p:nvPr/>
        </p:nvCxnSpPr>
        <p:spPr>
          <a:xfrm rot="0" flipH="0" flipV="0">
            <a:off x="3619500" y="2159000"/>
            <a:ext cx="1912822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AutoShape 3"/>
          <p:cNvSpPr txBox="1"/>
          <p:nvPr/>
        </p:nvSpPr>
        <p:spPr>
          <a:xfrm rot="0" flipH="0" flipV="0">
            <a:off x="1714500" y="2349500"/>
            <a:ext cx="5715000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294" name="AutoShape 4"/>
          <p:cNvSpPr txBox="1"/>
          <p:nvPr/>
        </p:nvSpPr>
        <p:spPr>
          <a:xfrm rot="0" flipH="0" flipV="0">
            <a:off x="1714500" y="3175000"/>
            <a:ext cx="5715000" cy="317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购物系统开发 </a:t>
            </a: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第六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小组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2026-10-22T09:57:15Z</dcterms:created>
  <dcterms:modified xsi:type="dcterms:W3CDTF">2026-10-22T09:57:15Z</dcterms:modified>
</cp:coreProperties>
</file>